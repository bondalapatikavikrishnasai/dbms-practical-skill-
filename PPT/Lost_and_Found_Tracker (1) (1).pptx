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83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lostfound-ppt/assets/kl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875494"/>
            <a:ext cx="3063240" cy="1107012"/>
          </a:xfrm>
          <a:prstGeom prst="rect">
            <a:avLst/>
          </a:prstGeom>
        </p:spPr>
      </p:pic>
      <p:sp>
        <p:nvSpPr>
          <p:cNvPr id="50" name="Shape Review Badge"/>
          <p:cNvSpPr/>
          <p:nvPr/>
        </p:nvSpPr>
        <p:spPr>
          <a:xfrm>
            <a:off x="10041695" y="411480"/>
            <a:ext cx="1800000" cy="480000"/>
          </a:xfrm>
          <a:prstGeom prst="roundRect">
            <a:avLst>
              <a:gd name="adj" fmla="val 16000"/>
            </a:avLst>
          </a:prstGeom>
          <a:solidFill>
            <a:srgbClr val="D99A2B"/>
          </a:solidFill>
          <a:ln/>
        </p:spPr>
      </p:sp>
      <p:sp>
        <p:nvSpPr>
          <p:cNvPr id="51" name="Text Review Badge"/>
          <p:cNvSpPr txBox="1"/>
          <p:nvPr/>
        </p:nvSpPr>
        <p:spPr>
          <a:xfrm>
            <a:off x="10041695" y="411480"/>
            <a:ext cx="18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- 1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480560" y="685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 UNIVERSITY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98755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Artificial Intelligence and Data Science and Computer Science and Information Technology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8288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&amp; Found Items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for Campus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3429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 web platform to report, search, track and recover lost belongings across campus.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80560" y="42062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4846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Lead:  </a:t>
            </a: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 Krishna  </a:t>
            </a: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(2520080021)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5285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Member:  </a:t>
            </a: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Hemanth  </a:t>
            </a: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(25230090074)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57241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Member:  </a:t>
            </a: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Prajwal  </a:t>
            </a: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(2520080017)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559052" y="2235708"/>
            <a:ext cx="100584" cy="100584"/>
          </a:xfrm>
          <a:prstGeom prst="ellipse">
            <a:avLst/>
          </a:prstGeom>
          <a:solidFill>
            <a:srgbClr val="22303F"/>
          </a:solidFill>
          <a:ln/>
        </p:spPr>
      </p:sp>
      <p:sp>
        <p:nvSpPr>
          <p:cNvPr id="5" name="Shape 3"/>
          <p:cNvSpPr/>
          <p:nvPr/>
        </p:nvSpPr>
        <p:spPr>
          <a:xfrm>
            <a:off x="1583110" y="2264790"/>
            <a:ext cx="98833" cy="98833"/>
          </a:xfrm>
          <a:prstGeom prst="ellipse">
            <a:avLst/>
          </a:prstGeom>
          <a:solidFill>
            <a:srgbClr val="22303F">
              <a:alpha val="9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88608" y="2308119"/>
            <a:ext cx="97082" cy="97082"/>
          </a:xfrm>
          <a:prstGeom prst="ellipse">
            <a:avLst/>
          </a:prstGeom>
          <a:solidFill>
            <a:srgbClr val="22303F">
              <a:alpha val="9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68230" y="2355950"/>
            <a:ext cx="95331" cy="95331"/>
          </a:xfrm>
          <a:prstGeom prst="ellipse">
            <a:avLst/>
          </a:prstGeom>
          <a:solidFill>
            <a:srgbClr val="22303F">
              <a:alpha val="9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20238" y="2395938"/>
            <a:ext cx="93580" cy="93580"/>
          </a:xfrm>
          <a:prstGeom prst="ellipse">
            <a:avLst/>
          </a:prstGeom>
          <a:solidFill>
            <a:srgbClr val="22303F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49368" y="2415654"/>
            <a:ext cx="91829" cy="91829"/>
          </a:xfrm>
          <a:prstGeom prst="ellipse">
            <a:avLst/>
          </a:prstGeom>
          <a:solidFill>
            <a:srgbClr val="22303F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66449" y="2405278"/>
            <a:ext cx="90078" cy="90078"/>
          </a:xfrm>
          <a:prstGeom prst="ellipse">
            <a:avLst/>
          </a:prstGeom>
          <a:solidFill>
            <a:srgbClr val="22303F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86783" y="2359959"/>
            <a:ext cx="88327" cy="88327"/>
          </a:xfrm>
          <a:prstGeom prst="ellipse">
            <a:avLst/>
          </a:prstGeom>
          <a:solidFill>
            <a:srgbClr val="22303F">
              <a:alpha val="8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27516" y="2281369"/>
            <a:ext cx="86576" cy="86576"/>
          </a:xfrm>
          <a:prstGeom prst="ellipse">
            <a:avLst/>
          </a:prstGeom>
          <a:solidFill>
            <a:srgbClr val="22303F">
              <a:alpha val="8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04427" y="2178134"/>
            <a:ext cx="84825" cy="84825"/>
          </a:xfrm>
          <a:prstGeom prst="ellipse">
            <a:avLst/>
          </a:prstGeom>
          <a:solidFill>
            <a:srgbClr val="22303F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28718" y="2064962"/>
            <a:ext cx="83074" cy="83074"/>
          </a:xfrm>
          <a:prstGeom prst="ellipse">
            <a:avLst/>
          </a:prstGeom>
          <a:solidFill>
            <a:srgbClr val="22303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04367" y="1960570"/>
            <a:ext cx="81323" cy="81323"/>
          </a:xfrm>
          <a:prstGeom prst="ellipse">
            <a:avLst/>
          </a:prstGeom>
          <a:solidFill>
            <a:srgbClr val="22303F">
              <a:alpha val="7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26579" y="1884684"/>
            <a:ext cx="79572" cy="79572"/>
          </a:xfrm>
          <a:prstGeom prst="ellipse">
            <a:avLst/>
          </a:prstGeom>
          <a:solidFill>
            <a:srgbClr val="22303F">
              <a:alpha val="7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81679" y="1854597"/>
            <a:ext cx="77821" cy="77821"/>
          </a:xfrm>
          <a:prstGeom prst="ellipse">
            <a:avLst/>
          </a:prstGeom>
          <a:solidFill>
            <a:srgbClr val="22303F">
              <a:alpha val="7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48571" y="1881852"/>
            <a:ext cx="76070" cy="76070"/>
          </a:xfrm>
          <a:prstGeom prst="ellipse">
            <a:avLst/>
          </a:prstGeom>
          <a:solidFill>
            <a:srgbClr val="22303F">
              <a:alpha val="7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1629" y="1969634"/>
            <a:ext cx="74319" cy="74319"/>
          </a:xfrm>
          <a:prstGeom prst="ellipse">
            <a:avLst/>
          </a:prstGeom>
          <a:solidFill>
            <a:srgbClr val="22303F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14603" y="2111387"/>
            <a:ext cx="72568" cy="72568"/>
          </a:xfrm>
          <a:prstGeom prst="ellipse">
            <a:avLst/>
          </a:prstGeom>
          <a:solidFill>
            <a:srgbClr val="22303F">
              <a:alpha val="6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64978" y="2290963"/>
            <a:ext cx="70817" cy="70817"/>
          </a:xfrm>
          <a:prstGeom prst="ellipse">
            <a:avLst/>
          </a:prstGeom>
          <a:solidFill>
            <a:srgbClr val="22303F">
              <a:alpha val="6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38054" y="2484387"/>
            <a:ext cx="69066" cy="69066"/>
          </a:xfrm>
          <a:prstGeom prst="ellipse">
            <a:avLst/>
          </a:prstGeom>
          <a:solidFill>
            <a:srgbClr val="22303F">
              <a:alpha val="6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30072" y="2663078"/>
            <a:ext cx="67315" cy="67315"/>
          </a:xfrm>
          <a:prstGeom prst="ellipse">
            <a:avLst/>
          </a:prstGeom>
          <a:solidFill>
            <a:srgbClr val="22303F">
              <a:alpha val="6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49790" y="2798066"/>
            <a:ext cx="65564" cy="65564"/>
          </a:xfrm>
          <a:prstGeom prst="ellipse">
            <a:avLst/>
          </a:prstGeom>
          <a:solidFill>
            <a:srgbClr val="22303F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18138" y="2864611"/>
            <a:ext cx="63813" cy="63813"/>
          </a:xfrm>
          <a:prstGeom prst="ellipse">
            <a:avLst/>
          </a:prstGeom>
          <a:solidFill>
            <a:srgbClr val="22303F">
              <a:alpha val="5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65902" y="2846477"/>
            <a:ext cx="62062" cy="62062"/>
          </a:xfrm>
          <a:prstGeom prst="ellipse">
            <a:avLst/>
          </a:prstGeom>
          <a:solidFill>
            <a:srgbClr val="22303F">
              <a:alpha val="5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9654" y="2739177"/>
            <a:ext cx="60311" cy="60311"/>
          </a:xfrm>
          <a:prstGeom prst="ellipse">
            <a:avLst/>
          </a:prstGeom>
          <a:solidFill>
            <a:srgbClr val="22303F">
              <a:alpha val="5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6477" y="2551572"/>
            <a:ext cx="58561" cy="58561"/>
          </a:xfrm>
          <a:prstGeom prst="ellipse">
            <a:avLst/>
          </a:prstGeom>
          <a:solidFill>
            <a:srgbClr val="22303F">
              <a:alpha val="5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8241" y="2305499"/>
            <a:ext cx="56810" cy="56810"/>
          </a:xfrm>
          <a:prstGeom prst="ellipse">
            <a:avLst/>
          </a:prstGeom>
          <a:solidFill>
            <a:srgbClr val="22303F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6309" y="2033334"/>
            <a:ext cx="55059" cy="55059"/>
          </a:xfrm>
          <a:prstGeom prst="ellipse">
            <a:avLst/>
          </a:prstGeom>
          <a:solidFill>
            <a:srgbClr val="22303F">
              <a:alpha val="4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77514" y="1773758"/>
            <a:ext cx="53308" cy="53308"/>
          </a:xfrm>
          <a:prstGeom prst="ellipse">
            <a:avLst/>
          </a:prstGeom>
          <a:solidFill>
            <a:srgbClr val="22303F">
              <a:alpha val="4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2137" y="1566287"/>
            <a:ext cx="51557" cy="51557"/>
          </a:xfrm>
          <a:prstGeom prst="ellipse">
            <a:avLst/>
          </a:prstGeom>
          <a:solidFill>
            <a:srgbClr val="22303F">
              <a:alpha val="4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04285" y="1445315"/>
            <a:ext cx="49806" cy="49806"/>
          </a:xfrm>
          <a:prstGeom prst="ellipse">
            <a:avLst/>
          </a:prstGeom>
          <a:solidFill>
            <a:srgbClr val="22303F">
              <a:alpha val="4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744774" y="1434588"/>
            <a:ext cx="48055" cy="48055"/>
          </a:xfrm>
          <a:prstGeom prst="ellipse">
            <a:avLst/>
          </a:prstGeom>
          <a:solidFill>
            <a:srgbClr val="22303F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76204" y="1542962"/>
            <a:ext cx="46304" cy="46304"/>
          </a:xfrm>
          <a:prstGeom prst="ellipse">
            <a:avLst/>
          </a:prstGeom>
          <a:solidFill>
            <a:srgbClr val="22303F">
              <a:alpha val="3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349573" y="1762175"/>
            <a:ext cx="44553" cy="44553"/>
          </a:xfrm>
          <a:prstGeom prst="ellipse">
            <a:avLst/>
          </a:prstGeom>
          <a:solidFill>
            <a:srgbClr val="22303F">
              <a:alpha val="3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521511" y="2067070"/>
            <a:ext cx="42802" cy="42802"/>
          </a:xfrm>
          <a:prstGeom prst="ellipse">
            <a:avLst/>
          </a:prstGeom>
          <a:solidFill>
            <a:srgbClr val="22303F">
              <a:alpha val="3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61065" y="2418378"/>
            <a:ext cx="41051" cy="41051"/>
          </a:xfrm>
          <a:prstGeom prst="ellipse">
            <a:avLst/>
          </a:prstGeom>
          <a:solidFill>
            <a:srgbClr val="22303F">
              <a:alpha val="3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454994" y="2767763"/>
            <a:ext cx="39300" cy="39300"/>
          </a:xfrm>
          <a:prstGeom prst="ellipse">
            <a:avLst/>
          </a:prstGeom>
          <a:solidFill>
            <a:srgbClr val="22303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210691" y="3064490"/>
            <a:ext cx="37549" cy="37549"/>
          </a:xfrm>
          <a:prstGeom prst="ellipse">
            <a:avLst/>
          </a:prstGeom>
          <a:solidFill>
            <a:srgbClr val="22303F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856188" y="3262792"/>
            <a:ext cx="35798" cy="35798"/>
          </a:xfrm>
          <a:prstGeom prst="ellipse">
            <a:avLst/>
          </a:prstGeom>
          <a:solidFill>
            <a:srgbClr val="22303F">
              <a:alpha val="2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37095" y="3328873"/>
            <a:ext cx="34047" cy="34047"/>
          </a:xfrm>
          <a:prstGeom prst="ellipse">
            <a:avLst/>
          </a:prstGeom>
          <a:solidFill>
            <a:srgbClr val="22303F">
              <a:alpha val="2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10783" y="3246481"/>
            <a:ext cx="32296" cy="32296"/>
          </a:xfrm>
          <a:prstGeom prst="ellipse">
            <a:avLst/>
          </a:prstGeom>
          <a:solidFill>
            <a:srgbClr val="22303F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8544" y="3020161"/>
            <a:ext cx="30545" cy="30545"/>
          </a:xfrm>
          <a:prstGeom prst="ellipse">
            <a:avLst/>
          </a:prstGeom>
          <a:solidFill>
            <a:srgbClr val="22303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76815" y="2675592"/>
            <a:ext cx="28794" cy="28794"/>
          </a:xfrm>
          <a:prstGeom prst="ellipse">
            <a:avLst/>
          </a:prstGeom>
          <a:solidFill>
            <a:srgbClr val="22303F">
              <a:alpha val="1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68694" y="2256830"/>
            <a:ext cx="27043" cy="27043"/>
          </a:xfrm>
          <a:prstGeom prst="ellipse">
            <a:avLst/>
          </a:prstGeom>
          <a:solidFill>
            <a:srgbClr val="22303F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37047" y="1820735"/>
            <a:ext cx="25292" cy="25292"/>
          </a:xfrm>
          <a:prstGeom prst="ellipse">
            <a:avLst/>
          </a:prstGeom>
          <a:solidFill>
            <a:srgbClr val="22303F">
              <a:alpha val="1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0259" y="1429265"/>
            <a:ext cx="23541" cy="23541"/>
          </a:xfrm>
          <a:prstGeom prst="ellipse">
            <a:avLst/>
          </a:prstGeom>
          <a:solidFill>
            <a:srgbClr val="22303F">
              <a:alpha val="1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1390" y="1140701"/>
            <a:ext cx="21790" cy="21790"/>
          </a:xfrm>
          <a:prstGeom prst="ellipse">
            <a:avLst/>
          </a:prstGeom>
          <a:solidFill>
            <a:srgbClr val="22303F">
              <a:alpha val="1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460991" y="1001026"/>
            <a:ext cx="20039" cy="20039"/>
          </a:xfrm>
          <a:prstGeom prst="ellipse">
            <a:avLst/>
          </a:prstGeom>
          <a:solidFill>
            <a:srgbClr val="22303F">
              <a:alpha val="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983312" y="1036741"/>
            <a:ext cx="18288" cy="18288"/>
          </a:xfrm>
          <a:prstGeom prst="ellipse">
            <a:avLst/>
          </a:prstGeom>
          <a:solidFill>
            <a:srgbClr val="22303F">
              <a:alpha val="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429000" y="365760"/>
            <a:ext cx="8214055" cy="685800"/>
          </a:xfrm>
          <a:prstGeom prst="roundRect">
            <a:avLst>
              <a:gd name="adj" fmla="val 10667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3429000" y="365760"/>
            <a:ext cx="8214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400" dirty="0"/>
          </a:p>
        </p:txBody>
      </p:sp>
      <p:sp>
        <p:nvSpPr>
          <p:cNvPr id="54" name="Text 52"/>
          <p:cNvSpPr txBox="1"/>
          <p:nvPr/>
        </p:nvSpPr>
        <p:spPr>
          <a:xfrm>
            <a:off x="3566160" y="1371600"/>
            <a:ext cx="7985455" cy="4937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Software Requirements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700" dirty="0"/>
          </a:p>
        </p:txBody>
      </p:sp>
      <p:pic>
        <p:nvPicPr>
          <p:cNvPr id="55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84203" y="6368796"/>
            <a:ext cx="64008" cy="64008"/>
          </a:xfrm>
          <a:prstGeom prst="ellipse">
            <a:avLst/>
          </a:prstGeom>
          <a:solidFill>
            <a:srgbClr val="22303F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06590" y="6397492"/>
            <a:ext cx="62106" cy="62106"/>
          </a:xfrm>
          <a:prstGeom prst="ellipse">
            <a:avLst/>
          </a:prstGeom>
          <a:solidFill>
            <a:srgbClr val="22303F">
              <a:alpha val="5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97869" y="6442584"/>
            <a:ext cx="60204" cy="60204"/>
          </a:xfrm>
          <a:prstGeom prst="ellipse">
            <a:avLst/>
          </a:prstGeom>
          <a:solidFill>
            <a:srgbClr val="22303F">
              <a:alpha val="5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649310" y="6479248"/>
            <a:ext cx="58302" cy="58302"/>
          </a:xfrm>
          <a:prstGeom prst="ellipse">
            <a:avLst/>
          </a:prstGeom>
          <a:solidFill>
            <a:srgbClr val="22303F">
              <a:alpha val="4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443" y="6481300"/>
            <a:ext cx="56400" cy="56400"/>
          </a:xfrm>
          <a:prstGeom prst="ellipse">
            <a:avLst/>
          </a:prstGeom>
          <a:solidFill>
            <a:srgbClr val="22303F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96590" y="6433630"/>
            <a:ext cx="54498" cy="54498"/>
          </a:xfrm>
          <a:prstGeom prst="ellipse">
            <a:avLst/>
          </a:prstGeom>
          <a:solidFill>
            <a:srgbClr val="22303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58292" y="6341108"/>
            <a:ext cx="52596" cy="52596"/>
          </a:xfrm>
          <a:prstGeom prst="ellipse">
            <a:avLst/>
          </a:prstGeom>
          <a:solidFill>
            <a:srgbClr val="22303F">
              <a:alpha val="4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86358" y="6230004"/>
            <a:ext cx="50694" cy="50694"/>
          </a:xfrm>
          <a:prstGeom prst="ellipse">
            <a:avLst/>
          </a:prstGeom>
          <a:solidFill>
            <a:srgbClr val="22303F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8173" y="6140626"/>
            <a:ext cx="48792" cy="48792"/>
          </a:xfrm>
          <a:prstGeom prst="ellipse">
            <a:avLst/>
          </a:prstGeom>
          <a:solidFill>
            <a:srgbClr val="22303F">
              <a:alpha val="3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42895" y="6113252"/>
            <a:ext cx="46890" cy="46890"/>
          </a:xfrm>
          <a:prstGeom prst="ellipse">
            <a:avLst/>
          </a:prstGeom>
          <a:solidFill>
            <a:srgbClr val="22303F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904913" y="6172143"/>
            <a:ext cx="44988" cy="44988"/>
          </a:xfrm>
          <a:prstGeom prst="ellipse">
            <a:avLst/>
          </a:prstGeom>
          <a:solidFill>
            <a:srgbClr val="22303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017381" y="6313600"/>
            <a:ext cx="43087" cy="43087"/>
          </a:xfrm>
          <a:prstGeom prst="ellipse">
            <a:avLst/>
          </a:prstGeom>
          <a:solidFill>
            <a:srgbClr val="22303F">
              <a:alpha val="3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031792" y="6503022"/>
            <a:ext cx="41185" cy="41185"/>
          </a:xfrm>
          <a:prstGeom prst="ellipse">
            <a:avLst/>
          </a:prstGeom>
          <a:solidFill>
            <a:srgbClr val="22303F">
              <a:alpha val="3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926987" y="6683051"/>
            <a:ext cx="39283" cy="39283"/>
          </a:xfrm>
          <a:prstGeom prst="ellipse">
            <a:avLst/>
          </a:prstGeom>
          <a:solidFill>
            <a:srgbClr val="22303F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20568" y="6791019"/>
            <a:ext cx="37381" cy="37381"/>
          </a:xfrm>
          <a:prstGeom prst="ellipse">
            <a:avLst/>
          </a:prstGeom>
          <a:solidFill>
            <a:srgbClr val="22303F">
              <a:alpha val="2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67804" y="6780399"/>
            <a:ext cx="35479" cy="35479"/>
          </a:xfrm>
          <a:prstGeom prst="ellipse">
            <a:avLst/>
          </a:prstGeom>
          <a:solidFill>
            <a:srgbClr val="22303F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7101" y="6639027"/>
            <a:ext cx="33577" cy="33577"/>
          </a:xfrm>
          <a:prstGeom prst="ellipse">
            <a:avLst/>
          </a:prstGeom>
          <a:solidFill>
            <a:srgbClr val="22303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135806" y="6397385"/>
            <a:ext cx="31675" cy="31675"/>
          </a:xfrm>
          <a:prstGeom prst="ellipse">
            <a:avLst/>
          </a:prstGeom>
          <a:solidFill>
            <a:srgbClr val="22303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83790" y="6123067"/>
            <a:ext cx="29773" cy="29773"/>
          </a:xfrm>
          <a:prstGeom prst="ellipse">
            <a:avLst/>
          </a:prstGeom>
          <a:solidFill>
            <a:srgbClr val="22303F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93695" y="5902043"/>
            <a:ext cx="27871" cy="27871"/>
          </a:xfrm>
          <a:prstGeom prst="ellipse">
            <a:avLst/>
          </a:prstGeom>
          <a:solidFill>
            <a:srgbClr val="22303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178" y="5811858"/>
            <a:ext cx="25969" cy="25969"/>
          </a:xfrm>
          <a:prstGeom prst="ellipse">
            <a:avLst/>
          </a:prstGeom>
          <a:solidFill>
            <a:srgbClr val="22303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056363" y="5895135"/>
            <a:ext cx="24067" cy="24067"/>
          </a:xfrm>
          <a:prstGeom prst="ellipse">
            <a:avLst/>
          </a:prstGeom>
          <a:solidFill>
            <a:srgbClr val="22303F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310134" y="6142259"/>
            <a:ext cx="22165" cy="22165"/>
          </a:xfrm>
          <a:prstGeom prst="ellipse">
            <a:avLst/>
          </a:prstGeom>
          <a:solidFill>
            <a:srgbClr val="22303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387759" y="6489799"/>
            <a:ext cx="20263" cy="20263"/>
          </a:xfrm>
          <a:prstGeom prst="ellipse">
            <a:avLst/>
          </a:prstGeom>
          <a:solidFill>
            <a:srgbClr val="22303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249328" y="6836450"/>
            <a:ext cx="18361" cy="18361"/>
          </a:xfrm>
          <a:prstGeom prst="ellipse">
            <a:avLst/>
          </a:prstGeom>
          <a:solidFill>
            <a:srgbClr val="22303F">
              <a:alpha val="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920726" y="7072634"/>
            <a:ext cx="16459" cy="16459"/>
          </a:xfrm>
          <a:prstGeom prst="ellipse">
            <a:avLst/>
          </a:prstGeom>
          <a:solidFill>
            <a:srgbClr val="22303F">
              <a:alpha val="4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1417320"/>
            <a:ext cx="10545775" cy="4846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and Found Items Tracker for Campus is a web-based system designed to provide an efficient and organized way for students, faculty, and staff to report, search, track, and recover lost and found items within the campus.</a:t>
            </a: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can securely register and log in, report items with details such as name, category, description, date, time and location, and upload a photo. An interactive campus map lets users pin the exact location an item was lost or found — across academic blocks, the library, canteen, hostels, auditorium and sports facilities.</a:t>
            </a: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matching mechanism compares category, description, date and location to surface likely lost-found pairs automatically, while an admin dashboard lets authorized staff verify claims and update item status from lost or found to returned.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pic>
        <p:nvPicPr>
          <p:cNvPr id="33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6492240" cy="4846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campus deals with a constant, quiet flow of lost items — ID cards, bottles, backpacks, electronics — that traditionally rely on notice boards or word of mouth.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registers and scattered social media groups are unsearchable, poorly organized, and easy for a genuine match to slip through.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student populations and the number of valuable personal devices grow, the cost of an inefficient recovery process grows with it.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“Fetch” reframes this as a centralized, searchable, location-aware digital platform — available to the whole campus community, all the time.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863840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2011680"/>
            <a:ext cx="1005840" cy="10058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Campus-wide,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location-aware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2976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→ Locate on map → Match → Recover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pic>
        <p:nvPicPr>
          <p:cNvPr id="1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515600" cy="37947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Existing Approach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Strength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Limitation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Physical notice boards / registers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Simple, needs no technology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 searchable; items are easily overlooked or lost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Informal WhatsApp / social media groups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Wide, fast reach across students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Unstructured; posts get buried in chat history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Generic university notice portals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Centralized, official channel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image upload, location tagging or match suggestions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Commercial lost-and-found mobile apps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Mobile-first, always accessible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 campus-specific; no admin verification workflow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822960" y="55321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Takeaway: none of the existing approaches combine centralized search, location context and automated matching in one campus-specific tool — the gap this project addresses.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pic>
        <p:nvPicPr>
          <p:cNvPr id="8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402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lost-and-found handling today is manual, decentralized and lacks location context or verification — leading to low recovery rates and wasted time for everyone involved.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one centralized platform for reporting lost and found items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location-based tracking with an interactive campus map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Automatically suggest matches from category, description, date and location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secure claim submission with admin-side verification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recovery rates while reducing manual staff effort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pic>
        <p:nvPicPr>
          <p:cNvPr id="1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Software 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73736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Desktop, laptop or smartphone with a modern web browser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4 GB RAM for smooth local development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internet or campus Wi-Fi connectivity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(optional) for capturing item photos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standard web server / hosting environment for deployment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3736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HTML5, CSS3 and JavaScript for the client interface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browser: Chrome, Firefox or Edge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 as the development environment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for version control and collaboration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local storage for the prototype; MySQL/Node.js planned for production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pic>
        <p:nvPicPr>
          <p:cNvPr id="14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6126480" cy="4846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responsive glass-themed interface with light and dark modes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accounts for students/staff and admins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flow with photo upload and interactive map location picker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and filter across lost, found and returned items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match scoring engine based on category, location, date and keywords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to verify claims and manage item status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417320"/>
            <a:ext cx="3977640" cy="4572000"/>
          </a:xfrm>
          <a:prstGeom prst="roundRect">
            <a:avLst>
              <a:gd name="adj" fmla="val 4138"/>
            </a:avLst>
          </a:prstGeom>
          <a:solidFill>
            <a:srgbClr val="1B222C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169164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EDF1F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874520"/>
            <a:ext cx="3337560" cy="4572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1874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— Home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2514600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2514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 match — Backpack near Library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3246120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32461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 — Silver Wristwatch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3977640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3977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— Blue Water Bottle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0" y="4709160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47091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Admin: 1 claim pending review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pic>
        <p:nvPicPr>
          <p:cNvPr id="19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84203" y="6368796"/>
            <a:ext cx="64008" cy="64008"/>
          </a:xfrm>
          <a:prstGeom prst="ellipse">
            <a:avLst/>
          </a:prstGeom>
          <a:solidFill>
            <a:srgbClr val="22303F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06590" y="6397492"/>
            <a:ext cx="62106" cy="62106"/>
          </a:xfrm>
          <a:prstGeom prst="ellipse">
            <a:avLst/>
          </a:prstGeom>
          <a:solidFill>
            <a:srgbClr val="22303F">
              <a:alpha val="5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97869" y="6442584"/>
            <a:ext cx="60204" cy="60204"/>
          </a:xfrm>
          <a:prstGeom prst="ellipse">
            <a:avLst/>
          </a:prstGeom>
          <a:solidFill>
            <a:srgbClr val="22303F">
              <a:alpha val="5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649310" y="6479248"/>
            <a:ext cx="58302" cy="58302"/>
          </a:xfrm>
          <a:prstGeom prst="ellipse">
            <a:avLst/>
          </a:prstGeom>
          <a:solidFill>
            <a:srgbClr val="22303F">
              <a:alpha val="4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443" y="6481300"/>
            <a:ext cx="56400" cy="56400"/>
          </a:xfrm>
          <a:prstGeom prst="ellipse">
            <a:avLst/>
          </a:prstGeom>
          <a:solidFill>
            <a:srgbClr val="22303F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96590" y="6433630"/>
            <a:ext cx="54498" cy="54498"/>
          </a:xfrm>
          <a:prstGeom prst="ellipse">
            <a:avLst/>
          </a:prstGeom>
          <a:solidFill>
            <a:srgbClr val="22303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58292" y="6341108"/>
            <a:ext cx="52596" cy="52596"/>
          </a:xfrm>
          <a:prstGeom prst="ellipse">
            <a:avLst/>
          </a:prstGeom>
          <a:solidFill>
            <a:srgbClr val="22303F">
              <a:alpha val="4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86358" y="6230004"/>
            <a:ext cx="50694" cy="50694"/>
          </a:xfrm>
          <a:prstGeom prst="ellipse">
            <a:avLst/>
          </a:prstGeom>
          <a:solidFill>
            <a:srgbClr val="22303F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8173" y="6140626"/>
            <a:ext cx="48792" cy="48792"/>
          </a:xfrm>
          <a:prstGeom prst="ellipse">
            <a:avLst/>
          </a:prstGeom>
          <a:solidFill>
            <a:srgbClr val="22303F">
              <a:alpha val="3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42895" y="6113252"/>
            <a:ext cx="46890" cy="46890"/>
          </a:xfrm>
          <a:prstGeom prst="ellipse">
            <a:avLst/>
          </a:prstGeom>
          <a:solidFill>
            <a:srgbClr val="22303F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904913" y="6172143"/>
            <a:ext cx="44988" cy="44988"/>
          </a:xfrm>
          <a:prstGeom prst="ellipse">
            <a:avLst/>
          </a:prstGeom>
          <a:solidFill>
            <a:srgbClr val="22303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017381" y="6313600"/>
            <a:ext cx="43087" cy="43087"/>
          </a:xfrm>
          <a:prstGeom prst="ellipse">
            <a:avLst/>
          </a:prstGeom>
          <a:solidFill>
            <a:srgbClr val="22303F">
              <a:alpha val="3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031792" y="6503022"/>
            <a:ext cx="41185" cy="41185"/>
          </a:xfrm>
          <a:prstGeom prst="ellipse">
            <a:avLst/>
          </a:prstGeom>
          <a:solidFill>
            <a:srgbClr val="22303F">
              <a:alpha val="3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926987" y="6683051"/>
            <a:ext cx="39283" cy="39283"/>
          </a:xfrm>
          <a:prstGeom prst="ellipse">
            <a:avLst/>
          </a:prstGeom>
          <a:solidFill>
            <a:srgbClr val="22303F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20568" y="6791019"/>
            <a:ext cx="37381" cy="37381"/>
          </a:xfrm>
          <a:prstGeom prst="ellipse">
            <a:avLst/>
          </a:prstGeom>
          <a:solidFill>
            <a:srgbClr val="22303F">
              <a:alpha val="2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67804" y="6780399"/>
            <a:ext cx="35479" cy="35479"/>
          </a:xfrm>
          <a:prstGeom prst="ellipse">
            <a:avLst/>
          </a:prstGeom>
          <a:solidFill>
            <a:srgbClr val="22303F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7101" y="6639027"/>
            <a:ext cx="33577" cy="33577"/>
          </a:xfrm>
          <a:prstGeom prst="ellipse">
            <a:avLst/>
          </a:prstGeom>
          <a:solidFill>
            <a:srgbClr val="22303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135806" y="6397385"/>
            <a:ext cx="31675" cy="31675"/>
          </a:xfrm>
          <a:prstGeom prst="ellipse">
            <a:avLst/>
          </a:prstGeom>
          <a:solidFill>
            <a:srgbClr val="22303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83790" y="6123067"/>
            <a:ext cx="29773" cy="29773"/>
          </a:xfrm>
          <a:prstGeom prst="ellipse">
            <a:avLst/>
          </a:prstGeom>
          <a:solidFill>
            <a:srgbClr val="22303F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93695" y="5902043"/>
            <a:ext cx="27871" cy="27871"/>
          </a:xfrm>
          <a:prstGeom prst="ellipse">
            <a:avLst/>
          </a:prstGeom>
          <a:solidFill>
            <a:srgbClr val="22303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178" y="5811858"/>
            <a:ext cx="25969" cy="25969"/>
          </a:xfrm>
          <a:prstGeom prst="ellipse">
            <a:avLst/>
          </a:prstGeom>
          <a:solidFill>
            <a:srgbClr val="22303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056363" y="5895135"/>
            <a:ext cx="24067" cy="24067"/>
          </a:xfrm>
          <a:prstGeom prst="ellipse">
            <a:avLst/>
          </a:prstGeom>
          <a:solidFill>
            <a:srgbClr val="22303F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310134" y="6142259"/>
            <a:ext cx="22165" cy="22165"/>
          </a:xfrm>
          <a:prstGeom prst="ellipse">
            <a:avLst/>
          </a:prstGeom>
          <a:solidFill>
            <a:srgbClr val="22303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387759" y="6489799"/>
            <a:ext cx="20263" cy="20263"/>
          </a:xfrm>
          <a:prstGeom prst="ellipse">
            <a:avLst/>
          </a:prstGeom>
          <a:solidFill>
            <a:srgbClr val="22303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249328" y="6836450"/>
            <a:ext cx="18361" cy="18361"/>
          </a:xfrm>
          <a:prstGeom prst="ellipse">
            <a:avLst/>
          </a:prstGeom>
          <a:solidFill>
            <a:srgbClr val="22303F">
              <a:alpha val="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920726" y="7072634"/>
            <a:ext cx="16459" cy="16459"/>
          </a:xfrm>
          <a:prstGeom prst="ellipse">
            <a:avLst/>
          </a:prstGeom>
          <a:solidFill>
            <a:srgbClr val="22303F">
              <a:alpha val="4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146304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Campus Lost &amp; Found Tracker replaces a slow, manual, easy-to-miss process with a single centralized platform — combining reporting, an interactive campus map, automated matching and admin oversight to meaningfully raise the odds that a lost item finds its way back.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22960" y="3200400"/>
            <a:ext cx="321045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34290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343400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locations mapped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90618" y="3200400"/>
            <a:ext cx="321045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90618" y="34290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37" name="Text 35"/>
          <p:cNvSpPr txBox="1"/>
          <p:nvPr/>
        </p:nvSpPr>
        <p:spPr>
          <a:xfrm>
            <a:off x="4719218" y="4343400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matching engine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158277" y="3200400"/>
            <a:ext cx="321045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58277" y="34290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40" name="Text 38"/>
          <p:cNvSpPr txBox="1"/>
          <p:nvPr/>
        </p:nvSpPr>
        <p:spPr>
          <a:xfrm>
            <a:off x="8386877" y="4343400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workflows covered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pic>
        <p:nvPicPr>
          <p:cNvPr id="4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73736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69164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8600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from local storage to a MySQL / Node.js backend with REST APIs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4898" y="150876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3498" y="173736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349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76418" y="169164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228600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or email notifications the moment a likely match is found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6837" y="150876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5437" y="173736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5437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798357" y="169164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mobile app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95437" y="228600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Android/iOS companion app for faster on-the-go reporting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81762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04622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005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QR-code tagging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59486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QR tags on valuables for instant identification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44898" y="381762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73498" y="404622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73498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176418" y="40005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card integration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73498" y="459486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claimants against campus ID records automatically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66837" y="381762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5437" y="404622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95437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798357" y="40005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image matching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295437" y="459486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image recognition to strengthen the matching engine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pic>
        <p:nvPicPr>
          <p:cNvPr id="36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101" name="User Card 1"/>
          <p:cNvSpPr/>
          <p:nvPr/>
        </p:nvSpPr>
        <p:spPr>
          <a:xfrm>
            <a:off x="548640" y="1350000"/>
            <a:ext cx="1500000" cy="22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blurRad="60000" dist="25400" dir="5400000" algn="t" rotWithShape="0">
              <a:srgbClr val="1F3A5F">
                <a:alpha val="14000"/>
              </a:srgbClr>
            </a:outerShdw>
          </a:effectLst>
        </p:spPr>
      </p:sp>
      <p:sp>
        <p:nvSpPr>
          <p:cNvPr id="102" name="User Head 1"/>
          <p:cNvSpPr/>
          <p:nvPr/>
        </p:nvSpPr>
        <p:spPr>
          <a:xfrm>
            <a:off x="1138640" y="1770000"/>
            <a:ext cx="320000" cy="320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03" name="User Body 1"/>
          <p:cNvSpPr/>
          <p:nvPr/>
        </p:nvSpPr>
        <p:spPr>
          <a:xfrm>
            <a:off x="998640" y="2140000"/>
            <a:ext cx="600000" cy="320000"/>
          </a:xfrm>
          <a:prstGeom prst="round2Same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104" name="User Label 1"/>
          <p:cNvSpPr/>
          <p:nvPr/>
        </p:nvSpPr>
        <p:spPr>
          <a:xfrm>
            <a:off x="628640" y="2590000"/>
            <a:ext cx="1340000" cy="9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Students, Faculty &amp; Staff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· search · claim</a:t>
            </a:r>
          </a:p>
        </p:txBody>
      </p:sp>
      <p:sp>
        <p:nvSpPr>
          <p:cNvPr id="105" name="User Card 2"/>
          <p:cNvSpPr/>
          <p:nvPr/>
        </p:nvSpPr>
        <p:spPr>
          <a:xfrm>
            <a:off x="548640" y="3825000"/>
            <a:ext cx="1500000" cy="22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blurRad="60000" dist="25400" dir="5400000" algn="t" rotWithShape="0">
              <a:srgbClr val="1F3A5F">
                <a:alpha val="14000"/>
              </a:srgbClr>
            </a:outerShdw>
          </a:effectLst>
        </p:spPr>
      </p:sp>
      <p:sp>
        <p:nvSpPr>
          <p:cNvPr id="106" name="User Head 2"/>
          <p:cNvSpPr/>
          <p:nvPr/>
        </p:nvSpPr>
        <p:spPr>
          <a:xfrm>
            <a:off x="1138640" y="4245000"/>
            <a:ext cx="320000" cy="320000"/>
          </a:xfrm>
          <a:prstGeom prst="ellipse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107" name="User Body 2"/>
          <p:cNvSpPr/>
          <p:nvPr/>
        </p:nvSpPr>
        <p:spPr>
          <a:xfrm>
            <a:off x="998640" y="4615000"/>
            <a:ext cx="600000" cy="320000"/>
          </a:xfrm>
          <a:prstGeom prst="round2Same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</p:spPr>
      </p:sp>
      <p:sp>
        <p:nvSpPr>
          <p:cNvPr id="108" name="User Label 2"/>
          <p:cNvSpPr/>
          <p:nvPr/>
        </p:nvSpPr>
        <p:spPr>
          <a:xfrm>
            <a:off x="628640" y="5065000"/>
            <a:ext cx="1340000" cy="9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claims · manage status</a:t>
            </a:r>
          </a:p>
        </p:txBody>
      </p:sp>
      <p:sp>
        <p:nvSpPr>
          <p:cNvPr id="109" name="Layer 1 Panel"/>
          <p:cNvSpPr/>
          <p:nvPr/>
        </p:nvSpPr>
        <p:spPr>
          <a:xfrm>
            <a:off x="2408640" y="1350000"/>
            <a:ext cx="2815000" cy="47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blurRad="60000" dist="25400" dir="5400000" algn="t" rotWithShape="0">
              <a:srgbClr val="1F3A5F">
                <a:alpha val="14000"/>
              </a:srgbClr>
            </a:outerShdw>
          </a:effectLst>
        </p:spPr>
      </p:sp>
      <p:sp>
        <p:nvSpPr>
          <p:cNvPr id="110" name="Layer 1 Header"/>
          <p:cNvSpPr/>
          <p:nvPr/>
        </p:nvSpPr>
        <p:spPr>
          <a:xfrm>
            <a:off x="2518640" y="1460000"/>
            <a:ext cx="2595000" cy="640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111" name="Layer 1 Badge"/>
          <p:cNvSpPr/>
          <p:nvPr/>
        </p:nvSpPr>
        <p:spPr>
          <a:xfrm>
            <a:off x="2608640" y="1590000"/>
            <a:ext cx="380000" cy="380000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112" name="Layer 1 Title"/>
          <p:cNvSpPr/>
          <p:nvPr/>
        </p:nvSpPr>
        <p:spPr>
          <a:xfrm>
            <a:off x="3088640" y="1460000"/>
            <a:ext cx="1975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D5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· CSS3 · JavaScript</a:t>
            </a:r>
          </a:p>
        </p:txBody>
      </p:sp>
      <p:sp>
        <p:nvSpPr>
          <p:cNvPr id="113" name="Presentation Layer Box 1"/>
          <p:cNvSpPr/>
          <p:nvPr/>
        </p:nvSpPr>
        <p:spPr>
          <a:xfrm>
            <a:off x="2518640" y="2200000"/>
            <a:ext cx="2595000" cy="8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Item Form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name, category, date, location, photo</a:t>
            </a:r>
          </a:p>
        </p:txBody>
      </p:sp>
      <p:sp>
        <p:nvSpPr>
          <p:cNvPr id="114" name="Presentation Layer Box 2"/>
          <p:cNvSpPr/>
          <p:nvPr/>
        </p:nvSpPr>
        <p:spPr>
          <a:xfrm>
            <a:off x="2518640" y="3190000"/>
            <a:ext cx="2595000" cy="8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Campus Map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where an item was lost or found</a:t>
            </a:r>
          </a:p>
        </p:txBody>
      </p:sp>
      <p:sp>
        <p:nvSpPr>
          <p:cNvPr id="115" name="Presentation Layer Box 3"/>
          <p:cNvSpPr/>
          <p:nvPr/>
        </p:nvSpPr>
        <p:spPr>
          <a:xfrm>
            <a:off x="2518640" y="4180000"/>
            <a:ext cx="2595000" cy="8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 Views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· found · returned items</a:t>
            </a:r>
          </a:p>
        </p:txBody>
      </p:sp>
      <p:sp>
        <p:nvSpPr>
          <p:cNvPr id="116" name="Presentation Layer Box 4"/>
          <p:cNvSpPr/>
          <p:nvPr/>
        </p:nvSpPr>
        <p:spPr>
          <a:xfrm>
            <a:off x="2518640" y="5170000"/>
            <a:ext cx="2595000" cy="8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claims, update item status</a:t>
            </a:r>
          </a:p>
        </p:txBody>
      </p:sp>
      <p:sp>
        <p:nvSpPr>
          <p:cNvPr id="117" name="Layer 2 Panel"/>
          <p:cNvSpPr/>
          <p:nvPr/>
        </p:nvSpPr>
        <p:spPr>
          <a:xfrm>
            <a:off x="5583640" y="1350000"/>
            <a:ext cx="2815000" cy="47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blurRad="60000" dist="25400" dir="5400000" algn="t" rotWithShape="0">
              <a:srgbClr val="1F3A5F">
                <a:alpha val="14000"/>
              </a:srgbClr>
            </a:outerShdw>
          </a:effectLst>
        </p:spPr>
      </p:sp>
      <p:sp>
        <p:nvSpPr>
          <p:cNvPr id="118" name="Layer 2 Header"/>
          <p:cNvSpPr/>
          <p:nvPr/>
        </p:nvSpPr>
        <p:spPr>
          <a:xfrm>
            <a:off x="5693640" y="1460000"/>
            <a:ext cx="2595000" cy="640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119" name="Layer 2 Badge"/>
          <p:cNvSpPr/>
          <p:nvPr/>
        </p:nvSpPr>
        <p:spPr>
          <a:xfrm>
            <a:off x="5783640" y="1590000"/>
            <a:ext cx="380000" cy="380000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20" name="Layer 2 Title"/>
          <p:cNvSpPr/>
          <p:nvPr/>
        </p:nvSpPr>
        <p:spPr>
          <a:xfrm>
            <a:off x="6263640" y="1460000"/>
            <a:ext cx="1975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D5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logic</a:t>
            </a:r>
          </a:p>
        </p:txBody>
      </p:sp>
      <p:sp>
        <p:nvSpPr>
          <p:cNvPr id="121" name="Application Layer Box 1"/>
          <p:cNvSpPr/>
          <p:nvPr/>
        </p:nvSpPr>
        <p:spPr>
          <a:xfrm>
            <a:off x="5693640" y="2200000"/>
            <a:ext cx="2595000" cy="10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Authentication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 for users and admins</a:t>
            </a:r>
          </a:p>
        </p:txBody>
      </p:sp>
      <p:sp>
        <p:nvSpPr>
          <p:cNvPr id="122" name="Application Layer Box 2"/>
          <p:cNvSpPr/>
          <p:nvPr/>
        </p:nvSpPr>
        <p:spPr>
          <a:xfrm>
            <a:off x="5693640" y="3585000"/>
            <a:ext cx="2595000" cy="10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Match-Scoring Engine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compares category, description, date and location to suggest likely pairs</a:t>
            </a:r>
          </a:p>
        </p:txBody>
      </p:sp>
      <p:sp>
        <p:nvSpPr>
          <p:cNvPr id="123" name="Application Layer Box 3"/>
          <p:cNvSpPr/>
          <p:nvPr/>
        </p:nvSpPr>
        <p:spPr>
          <a:xfrm>
            <a:off x="5693640" y="4970000"/>
            <a:ext cx="2595000" cy="10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Verification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verifies claims; status changes from lost / found to returned</a:t>
            </a:r>
          </a:p>
        </p:txBody>
      </p:sp>
      <p:sp>
        <p:nvSpPr>
          <p:cNvPr id="124" name="Layer 3 Panel"/>
          <p:cNvSpPr/>
          <p:nvPr/>
        </p:nvSpPr>
        <p:spPr>
          <a:xfrm>
            <a:off x="8758640" y="1350000"/>
            <a:ext cx="2815000" cy="47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blurRad="60000" dist="25400" dir="5400000" algn="t" rotWithShape="0">
              <a:srgbClr val="1F3A5F">
                <a:alpha val="14000"/>
              </a:srgbClr>
            </a:outerShdw>
          </a:effectLst>
        </p:spPr>
      </p:sp>
      <p:sp>
        <p:nvSpPr>
          <p:cNvPr id="125" name="Layer 3 Header"/>
          <p:cNvSpPr/>
          <p:nvPr/>
        </p:nvSpPr>
        <p:spPr>
          <a:xfrm>
            <a:off x="8868640" y="1460000"/>
            <a:ext cx="2595000" cy="640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126" name="Layer 3 Badge"/>
          <p:cNvSpPr/>
          <p:nvPr/>
        </p:nvSpPr>
        <p:spPr>
          <a:xfrm>
            <a:off x="8958640" y="1590000"/>
            <a:ext cx="380000" cy="380000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27" name="Layer 3 Title"/>
          <p:cNvSpPr/>
          <p:nvPr/>
        </p:nvSpPr>
        <p:spPr>
          <a:xfrm>
            <a:off x="9438640" y="1460000"/>
            <a:ext cx="1975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D5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&amp; storage</a:t>
            </a:r>
          </a:p>
        </p:txBody>
      </p:sp>
      <p:sp>
        <p:nvSpPr>
          <p:cNvPr id="128" name="Data Layer Box 1"/>
          <p:cNvSpPr/>
          <p:nvPr/>
        </p:nvSpPr>
        <p:spPr>
          <a:xfrm>
            <a:off x="8868640" y="2200000"/>
            <a:ext cx="2595000" cy="10000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Local Storage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· prototype data store</a:t>
            </a:r>
          </a:p>
        </p:txBody>
      </p:sp>
      <p:sp>
        <p:nvSpPr>
          <p:cNvPr id="129" name="Data Layer Box 2"/>
          <p:cNvSpPr/>
          <p:nvPr/>
        </p:nvSpPr>
        <p:spPr>
          <a:xfrm>
            <a:off x="8868640" y="3585000"/>
            <a:ext cx="2595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dash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REST APIs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· bridge to the database</a:t>
            </a:r>
          </a:p>
        </p:txBody>
      </p:sp>
      <p:sp>
        <p:nvSpPr>
          <p:cNvPr id="130" name="Down Arrow"/>
          <p:cNvSpPr/>
          <p:nvPr/>
        </p:nvSpPr>
        <p:spPr>
          <a:xfrm flipV="1">
            <a:off x="10056140" y="4665000"/>
            <a:ext cx="220000" cy="225000"/>
          </a:xfrm>
          <a:prstGeom prst="triangle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131" name="Data Layer Box 3"/>
          <p:cNvSpPr/>
          <p:nvPr/>
        </p:nvSpPr>
        <p:spPr>
          <a:xfrm>
            <a:off x="8868640" y="4970000"/>
            <a:ext cx="2595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dash"/>
          </a:ln>
        </p:spPr>
        <p:txBody>
          <a:bodyPr wrap="square" lIns="140000" tIns="50000" rIns="100000" bIns="500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· persistent production storage</a:t>
            </a:r>
          </a:p>
        </p:txBody>
      </p:sp>
      <p:sp>
        <p:nvSpPr>
          <p:cNvPr id="132" name="Flow Users 1"/>
          <p:cNvSpPr/>
          <p:nvPr/>
        </p:nvSpPr>
        <p:spPr>
          <a:xfrm>
            <a:off x="2078640" y="2357500"/>
            <a:ext cx="300000" cy="260000"/>
          </a:xfrm>
          <a:prstGeom prst="leftRightArrow">
            <a:avLst>
              <a:gd name="adj1" fmla="val 40000"/>
              <a:gd name="adj2" fmla="val 36000"/>
            </a:avLst>
          </a:prstGeom>
          <a:solidFill>
            <a:srgbClr val="D99A2B"/>
          </a:solidFill>
          <a:ln>
            <a:noFill/>
          </a:ln>
        </p:spPr>
      </p:sp>
      <p:sp>
        <p:nvSpPr>
          <p:cNvPr id="133" name="Flow Users 2"/>
          <p:cNvSpPr/>
          <p:nvPr/>
        </p:nvSpPr>
        <p:spPr>
          <a:xfrm>
            <a:off x="2078640" y="4832500"/>
            <a:ext cx="300000" cy="260000"/>
          </a:xfrm>
          <a:prstGeom prst="leftRightArrow">
            <a:avLst>
              <a:gd name="adj1" fmla="val 40000"/>
              <a:gd name="adj2" fmla="val 36000"/>
            </a:avLst>
          </a:prstGeom>
          <a:solidFill>
            <a:srgbClr val="D99A2B"/>
          </a:solidFill>
          <a:ln>
            <a:noFill/>
          </a:ln>
        </p:spPr>
      </p:sp>
      <p:sp>
        <p:nvSpPr>
          <p:cNvPr id="134" name="Flow Layers"/>
          <p:cNvSpPr/>
          <p:nvPr/>
        </p:nvSpPr>
        <p:spPr>
          <a:xfrm>
            <a:off x="5253640" y="3955000"/>
            <a:ext cx="300000" cy="260000"/>
          </a:xfrm>
          <a:prstGeom prst="leftRightArrow">
            <a:avLst>
              <a:gd name="adj1" fmla="val 40000"/>
              <a:gd name="adj2" fmla="val 36000"/>
            </a:avLst>
          </a:prstGeom>
          <a:solidFill>
            <a:srgbClr val="D99A2B"/>
          </a:solidFill>
          <a:ln>
            <a:noFill/>
          </a:ln>
        </p:spPr>
      </p:sp>
      <p:sp>
        <p:nvSpPr>
          <p:cNvPr id="135" name="Flow Layers"/>
          <p:cNvSpPr/>
          <p:nvPr/>
        </p:nvSpPr>
        <p:spPr>
          <a:xfrm>
            <a:off x="8428640" y="3955000"/>
            <a:ext cx="300000" cy="260000"/>
          </a:xfrm>
          <a:prstGeom prst="leftRightArrow">
            <a:avLst>
              <a:gd name="adj1" fmla="val 40000"/>
              <a:gd name="adj2" fmla="val 36000"/>
            </a:avLst>
          </a:prstGeom>
          <a:solidFill>
            <a:srgbClr val="D99A2B"/>
          </a:solidFill>
          <a:ln>
            <a:noFill/>
          </a:ln>
        </p:spPr>
      </p:sp>
      <p:sp>
        <p:nvSpPr>
          <p:cNvPr id="136" name="Legend Solid"/>
          <p:cNvSpPr/>
          <p:nvPr/>
        </p:nvSpPr>
        <p:spPr>
          <a:xfrm>
            <a:off x="2200000" y="6270000"/>
            <a:ext cx="260000" cy="170000"/>
          </a:xfrm>
          <a:prstGeom prst="roundRect">
            <a:avLst>
              <a:gd name="adj" fmla="val 20000"/>
            </a:avLst>
          </a:prstGeom>
          <a:solidFill>
            <a:srgbClr val="EDF1F6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7" name="Legend Solid Text"/>
          <p:cNvSpPr/>
          <p:nvPr/>
        </p:nvSpPr>
        <p:spPr>
          <a:xfrm>
            <a:off x="2540000" y="6250000"/>
            <a:ext cx="200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(prototype)</a:t>
            </a:r>
          </a:p>
        </p:txBody>
      </p:sp>
      <p:sp>
        <p:nvSpPr>
          <p:cNvPr id="138" name="Legend Dashed"/>
          <p:cNvSpPr/>
          <p:nvPr/>
        </p:nvSpPr>
        <p:spPr>
          <a:xfrm>
            <a:off x="4700000" y="6270000"/>
            <a:ext cx="260000" cy="1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dash"/>
          </a:ln>
        </p:spPr>
      </p:sp>
      <p:sp>
        <p:nvSpPr>
          <p:cNvPr id="139" name="Legend Dashed Text"/>
          <p:cNvSpPr/>
          <p:nvPr/>
        </p:nvSpPr>
        <p:spPr>
          <a:xfrm>
            <a:off x="5040000" y="6250000"/>
            <a:ext cx="200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(production)</a:t>
            </a:r>
          </a:p>
        </p:txBody>
      </p:sp>
      <p:sp>
        <p:nvSpPr>
          <p:cNvPr id="35" name="Page Number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pic>
        <p:nvPicPr>
          <p:cNvPr id="36" name="Image 0" descr="/home/claude/lostfound-ppt/assets/klh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4" name="Image 0" descr="/home/claude/lostfound-ppt/assets/klh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28" y="822960"/>
            <a:ext cx="3063240" cy="1107012"/>
          </a:xfrm>
          <a:prstGeom prst="rect">
            <a:avLst/>
          </a:prstGeom>
        </p:spPr>
      </p:pic>
      <p:sp>
        <p:nvSpPr>
          <p:cNvPr id="7" name="Text Thank You"/>
          <p:cNvSpPr txBox="1"/>
          <p:nvPr/>
        </p:nvSpPr>
        <p:spPr>
          <a:xfrm>
            <a:off x="1595848" y="2377440"/>
            <a:ext cx="90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Subtitle"/>
          <p:cNvSpPr txBox="1"/>
          <p:nvPr/>
        </p:nvSpPr>
        <p:spPr>
          <a:xfrm>
            <a:off x="1595848" y="3520440"/>
            <a:ext cx="90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9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feedback are welcome</a:t>
            </a:r>
            <a:endParaRPr lang="en-US" sz="1600" dirty="0"/>
          </a:p>
        </p:txBody>
      </p:sp>
      <p:sp>
        <p:nvSpPr>
          <p:cNvPr id="9" name="Shape Team Badge"/>
          <p:cNvSpPr/>
          <p:nvPr/>
        </p:nvSpPr>
        <p:spPr>
          <a:xfrm>
            <a:off x="4724548" y="44196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D99A2B"/>
          </a:solidFill>
          <a:ln/>
        </p:spPr>
      </p:sp>
      <p:sp>
        <p:nvSpPr>
          <p:cNvPr id="10" name="Text Team Badge"/>
          <p:cNvSpPr txBox="1"/>
          <p:nvPr/>
        </p:nvSpPr>
        <p:spPr>
          <a:xfrm>
            <a:off x="4724548" y="4419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1400" dirty="0"/>
          </a:p>
        </p:txBody>
      </p:sp>
      <p:sp>
        <p:nvSpPr>
          <p:cNvPr id="11" name="Text Team 1"/>
          <p:cNvSpPr txBox="1"/>
          <p:nvPr/>
        </p:nvSpPr>
        <p:spPr>
          <a:xfrm>
            <a:off x="1595848" y="5029200"/>
            <a:ext cx="9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 Krishna  </a:t>
            </a:r>
            <a:r>
              <a:rPr lang="en-US" sz="1450" i="1" dirty="0">
                <a:solidFill>
                  <a:srgbClr val="D9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Hemanth  •  Prajwal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983</Words>
  <Application>Microsoft Office PowerPoint</Application>
  <PresentationFormat>Widescreen</PresentationFormat>
  <Paragraphs>147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POLOJU PRAJWAL</cp:lastModifiedBy>
  <cp:revision>2</cp:revision>
  <dcterms:created xsi:type="dcterms:W3CDTF">2026-08-26T03:47:38Z</dcterms:created>
  <dcterms:modified xsi:type="dcterms:W3CDTF">2026-08-26T05:34:59Z</dcterms:modified>
</cp:coreProperties>
</file>