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869680" y="0"/>
            <a:ext cx="3474720" cy="9144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0" y="914400"/>
            <a:ext cx="2560320" cy="2560320"/>
          </a:xfrm>
          <a:prstGeom prst="rect">
            <a:avLst/>
          </a:prstGeom>
          <a:solidFill>
            <a:srgbClr val="23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989320"/>
            <a:ext cx="4114800" cy="86868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0" y="6217920"/>
            <a:ext cx="4297680" cy="640080"/>
          </a:xfrm>
          <a:prstGeom prst="rect">
            <a:avLst/>
          </a:prstGeom>
          <a:solidFill>
            <a:srgbClr val="234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25880"/>
            <a:ext cx="9601200" cy="1371600"/>
          </a:xfrm>
          <a:prstGeom prst="rect">
            <a:avLst/>
          </a:prstGeom>
          <a:noFill/>
        </p:spPr>
        <p:txBody>
          <a:bodyPr wrap="none">
            <a:spAutoFit/>
          </a:bodyPr>
          <a:lstStyle/>
          <a:p>
            <a:r>
              <a:rPr sz="4000" b="1">
                <a:solidFill>
                  <a:srgbClr val="FFFFFF"/>
                </a:solidFill>
              </a:rPr>
              <a:t>LOST &amp; FOUND
ITEMS TRACKER</a:t>
            </a:r>
          </a:p>
        </p:txBody>
      </p:sp>
      <p:sp>
        <p:nvSpPr>
          <p:cNvPr id="8" name="TextBox 7"/>
          <p:cNvSpPr txBox="1"/>
          <p:nvPr/>
        </p:nvSpPr>
        <p:spPr>
          <a:xfrm>
            <a:off x="822960" y="2971800"/>
            <a:ext cx="8046720" cy="640080"/>
          </a:xfrm>
          <a:prstGeom prst="rect">
            <a:avLst/>
          </a:prstGeom>
          <a:noFill/>
        </p:spPr>
        <p:txBody>
          <a:bodyPr wrap="none">
            <a:spAutoFit/>
          </a:bodyPr>
          <a:lstStyle/>
          <a:p>
            <a:r>
              <a:rPr sz="1800">
                <a:solidFill>
                  <a:srgbClr val="E2EFFC"/>
                </a:solidFill>
              </a:rPr>
              <a:t>A Campus-Based Platform for Reporting, Matching &amp; Recovering Lost Items</a:t>
            </a:r>
          </a:p>
        </p:txBody>
      </p:sp>
      <p:sp>
        <p:nvSpPr>
          <p:cNvPr id="9" name="TextBox 8"/>
          <p:cNvSpPr txBox="1"/>
          <p:nvPr/>
        </p:nvSpPr>
        <p:spPr>
          <a:xfrm>
            <a:off x="822960" y="4160520"/>
            <a:ext cx="8046720" cy="1143000"/>
          </a:xfrm>
          <a:prstGeom prst="rect">
            <a:avLst/>
          </a:prstGeom>
          <a:noFill/>
        </p:spPr>
        <p:txBody>
          <a:bodyPr wrap="none">
            <a:spAutoFit/>
          </a:bodyPr>
          <a:lstStyle/>
          <a:p>
            <a:pPr>
              <a:spcAft>
                <a:spcPts val="700"/>
              </a:spcAft>
              <a:defRPr sz="1600">
                <a:solidFill>
                  <a:srgbClr val="FFFFFF"/>
                </a:solidFill>
              </a:defRPr>
            </a:pPr>
            <a:r>
              <a:t>2520080021 — Kavi Krishna Sai</a:t>
            </a:r>
          </a:p>
          <a:p>
            <a:pPr>
              <a:spcAft>
                <a:spcPts val="700"/>
              </a:spcAft>
              <a:defRPr sz="1600">
                <a:solidFill>
                  <a:srgbClr val="FFFFFF"/>
                </a:solidFill>
              </a:defRPr>
            </a:pPr>
            <a:r>
              <a:t>2520080017 — Prajwal</a:t>
            </a:r>
          </a:p>
          <a:p>
            <a:pPr>
              <a:spcAft>
                <a:spcPts val="700"/>
              </a:spcAft>
              <a:defRPr sz="1600">
                <a:solidFill>
                  <a:srgbClr val="FFFFFF"/>
                </a:solidFill>
              </a:defRPr>
            </a:pPr>
            <a:r>
              <a:t>2520090074 — Hemanth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Problem Statement</a:t>
            </a:r>
          </a:p>
        </p:txBody>
      </p:sp>
      <p:sp>
        <p:nvSpPr>
          <p:cNvPr id="5" name="TextBox 4"/>
          <p:cNvSpPr txBox="1"/>
          <p:nvPr/>
        </p:nvSpPr>
        <p:spPr>
          <a:xfrm>
            <a:off x="731520" y="1417320"/>
            <a:ext cx="10698480" cy="4663440"/>
          </a:xfrm>
          <a:prstGeom prst="rect">
            <a:avLst/>
          </a:prstGeom>
          <a:noFill/>
        </p:spPr>
        <p:txBody>
          <a:bodyPr wrap="square">
            <a:spAutoFit/>
          </a:bodyPr>
          <a:lstStyle/>
          <a:p>
            <a:pPr>
              <a:spcAft>
                <a:spcPts val="1200"/>
              </a:spcAft>
              <a:defRPr sz="2000" b="0">
                <a:solidFill>
                  <a:srgbClr val="232830"/>
                </a:solidFill>
              </a:defRPr>
            </a:pPr>
            <a:r>
              <a:t>Lost items on campus are often reported through informal channels such as WhatsApp groups, notices, or word of mouth.</a:t>
            </a:r>
          </a:p>
          <a:p>
            <a:pPr>
              <a:spcAft>
                <a:spcPts val="1200"/>
              </a:spcAft>
              <a:defRPr sz="2000" b="0">
                <a:solidFill>
                  <a:srgbClr val="232830"/>
                </a:solidFill>
              </a:defRPr>
            </a:pPr>
            <a:r>
              <a:t>Students may not know where or when an item was found, making recovery difficult.</a:t>
            </a:r>
          </a:p>
          <a:p>
            <a:pPr>
              <a:spcAft>
                <a:spcPts val="1200"/>
              </a:spcAft>
              <a:defRPr sz="2000" b="0">
                <a:solidFill>
                  <a:srgbClr val="232830"/>
                </a:solidFill>
              </a:defRPr>
            </a:pPr>
            <a:r>
              <a:t>There is no centralized, searchable record of lost and found items.</a:t>
            </a:r>
          </a:p>
          <a:p>
            <a:pPr>
              <a:spcAft>
                <a:spcPts val="1200"/>
              </a:spcAft>
              <a:defRPr sz="2000" b="0">
                <a:solidFill>
                  <a:srgbClr val="232830"/>
                </a:solidFill>
              </a:defRPr>
            </a:pPr>
            <a:r>
              <a:t>Manual matching of lost and found reports is time-consuming and can miss potential matches.</a:t>
            </a:r>
          </a:p>
          <a:p>
            <a:pPr>
              <a:spcAft>
                <a:spcPts val="1200"/>
              </a:spcAft>
              <a:defRPr sz="2000" b="0">
                <a:solidFill>
                  <a:srgbClr val="232830"/>
                </a:solidFill>
              </a:defRPr>
            </a:pPr>
            <a:r>
              <a:t>A secure platform is needed to manage reports, claims, notifications, and item status.</a:t>
            </a:r>
          </a:p>
        </p:txBody>
      </p:sp>
      <p:sp>
        <p:nvSpPr>
          <p:cNvPr id="6" name="Rectangle 5"/>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565392"/>
            <a:ext cx="548640" cy="182880"/>
          </a:xfrm>
          <a:prstGeom prst="rect">
            <a:avLst/>
          </a:prstGeom>
          <a:noFill/>
        </p:spPr>
        <p:txBody>
          <a:bodyPr wrap="none">
            <a:spAutoFit/>
          </a:bodyPr>
          <a:lstStyle/>
          <a:p>
            <a:pPr algn="r"/>
            <a:r>
              <a:rPr sz="900">
                <a:solidFill>
                  <a:srgbClr val="697380"/>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Abstract</a:t>
            </a:r>
          </a:p>
        </p:txBody>
      </p:sp>
      <p:sp>
        <p:nvSpPr>
          <p:cNvPr id="5" name="Rounded Rectangle 4"/>
          <p:cNvSpPr/>
          <p:nvPr/>
        </p:nvSpPr>
        <p:spPr>
          <a:xfrm>
            <a:off x="685800" y="1417320"/>
            <a:ext cx="10835640" cy="438912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73152" cy="438912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10424160" cy="365760"/>
          </a:xfrm>
          <a:prstGeom prst="rect">
            <a:avLst/>
          </a:prstGeom>
          <a:noFill/>
        </p:spPr>
        <p:txBody>
          <a:bodyPr wrap="none">
            <a:spAutoFit/>
          </a:bodyPr>
          <a:lstStyle/>
          <a:p>
            <a:r>
              <a:rPr sz="1700" b="1">
                <a:solidFill>
                  <a:srgbClr val="14223A"/>
                </a:solidFill>
              </a:rPr>
              <a:t>Project Overview</a:t>
            </a:r>
          </a:p>
        </p:txBody>
      </p:sp>
      <p:sp>
        <p:nvSpPr>
          <p:cNvPr id="8" name="TextBox 7"/>
          <p:cNvSpPr txBox="1"/>
          <p:nvPr/>
        </p:nvSpPr>
        <p:spPr>
          <a:xfrm>
            <a:off x="914400" y="2039112"/>
            <a:ext cx="10424160" cy="3639312"/>
          </a:xfrm>
          <a:prstGeom prst="rect">
            <a:avLst/>
          </a:prstGeom>
          <a:noFill/>
        </p:spPr>
        <p:txBody>
          <a:bodyPr wrap="square">
            <a:spAutoFit/>
          </a:bodyPr>
          <a:lstStyle/>
          <a:p>
            <a:r>
              <a:rPr sz="1300">
                <a:solidFill>
                  <a:srgbClr val="232830"/>
                </a:solidFill>
              </a:rPr>
              <a:t>The Lost &amp; Found Items Tracker is a web-based campus platform that helps students and administrators report, search, match, and recover misplaced belongings. Users can register and log in, submit lost or found item reports with details such as category, description, date, time, location, and image, and track the status of each report. The system supports location-aware campus records, potential matching between reports, claims, notifications, and administrative monitoring. MongoDB stores the application data while a Node.js/Express backend provides REST APIs for the frontend.</a:t>
            </a:r>
          </a:p>
        </p:txBody>
      </p:sp>
      <p:sp>
        <p:nvSpPr>
          <p:cNvPr id="9" name="Rectangle 8"/>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81360" y="6565392"/>
            <a:ext cx="548640" cy="182880"/>
          </a:xfrm>
          <a:prstGeom prst="rect">
            <a:avLst/>
          </a:prstGeom>
          <a:noFill/>
        </p:spPr>
        <p:txBody>
          <a:bodyPr wrap="none">
            <a:spAutoFit/>
          </a:bodyPr>
          <a:lstStyle/>
          <a:p>
            <a:pPr algn="r"/>
            <a:r>
              <a:rPr sz="900">
                <a:solidFill>
                  <a:srgbClr val="697380"/>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Objectives</a:t>
            </a:r>
          </a:p>
        </p:txBody>
      </p:sp>
      <p:sp>
        <p:nvSpPr>
          <p:cNvPr id="5" name="Rounded Rectangle 4"/>
          <p:cNvSpPr/>
          <p:nvPr/>
        </p:nvSpPr>
        <p:spPr>
          <a:xfrm>
            <a:off x="685800" y="141732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73152" cy="18288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4754880" cy="365760"/>
          </a:xfrm>
          <a:prstGeom prst="rect">
            <a:avLst/>
          </a:prstGeom>
          <a:noFill/>
        </p:spPr>
        <p:txBody>
          <a:bodyPr wrap="none">
            <a:spAutoFit/>
          </a:bodyPr>
          <a:lstStyle/>
          <a:p>
            <a:r>
              <a:rPr sz="1700" b="1">
                <a:solidFill>
                  <a:srgbClr val="14223A"/>
                </a:solidFill>
              </a:rPr>
              <a:t>Centralize</a:t>
            </a:r>
          </a:p>
        </p:txBody>
      </p:sp>
      <p:sp>
        <p:nvSpPr>
          <p:cNvPr id="8" name="TextBox 7"/>
          <p:cNvSpPr txBox="1"/>
          <p:nvPr/>
        </p:nvSpPr>
        <p:spPr>
          <a:xfrm>
            <a:off x="914400" y="2039112"/>
            <a:ext cx="4754880" cy="1078992"/>
          </a:xfrm>
          <a:prstGeom prst="rect">
            <a:avLst/>
          </a:prstGeom>
          <a:noFill/>
        </p:spPr>
        <p:txBody>
          <a:bodyPr wrap="square">
            <a:spAutoFit/>
          </a:bodyPr>
          <a:lstStyle/>
          <a:p>
            <a:r>
              <a:rPr sz="1300">
                <a:solidFill>
                  <a:srgbClr val="232830"/>
                </a:solidFill>
              </a:rPr>
              <a:t>Maintain one searchable database for campus lost and found reports.</a:t>
            </a:r>
          </a:p>
        </p:txBody>
      </p:sp>
      <p:sp>
        <p:nvSpPr>
          <p:cNvPr id="9" name="Rounded Rectangle 8"/>
          <p:cNvSpPr/>
          <p:nvPr/>
        </p:nvSpPr>
        <p:spPr>
          <a:xfrm>
            <a:off x="6217920" y="141732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417320"/>
            <a:ext cx="73152" cy="182880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81912"/>
            <a:ext cx="4754880" cy="365760"/>
          </a:xfrm>
          <a:prstGeom prst="rect">
            <a:avLst/>
          </a:prstGeom>
          <a:noFill/>
        </p:spPr>
        <p:txBody>
          <a:bodyPr wrap="none">
            <a:spAutoFit/>
          </a:bodyPr>
          <a:lstStyle/>
          <a:p>
            <a:r>
              <a:rPr sz="1700" b="1">
                <a:solidFill>
                  <a:srgbClr val="14223A"/>
                </a:solidFill>
              </a:rPr>
              <a:t>Match</a:t>
            </a:r>
          </a:p>
        </p:txBody>
      </p:sp>
      <p:sp>
        <p:nvSpPr>
          <p:cNvPr id="12" name="TextBox 11"/>
          <p:cNvSpPr txBox="1"/>
          <p:nvPr/>
        </p:nvSpPr>
        <p:spPr>
          <a:xfrm>
            <a:off x="6446520" y="2039112"/>
            <a:ext cx="4754880" cy="1078992"/>
          </a:xfrm>
          <a:prstGeom prst="rect">
            <a:avLst/>
          </a:prstGeom>
          <a:noFill/>
        </p:spPr>
        <p:txBody>
          <a:bodyPr wrap="square">
            <a:spAutoFit/>
          </a:bodyPr>
          <a:lstStyle/>
          <a:p>
            <a:r>
              <a:rPr sz="1300">
                <a:solidFill>
                  <a:srgbClr val="232830"/>
                </a:solidFill>
              </a:rPr>
              <a:t>Identify possible matches using category, description, date and location.</a:t>
            </a:r>
          </a:p>
        </p:txBody>
      </p:sp>
      <p:sp>
        <p:nvSpPr>
          <p:cNvPr id="13" name="Rounded Rectangle 12"/>
          <p:cNvSpPr/>
          <p:nvPr/>
        </p:nvSpPr>
        <p:spPr>
          <a:xfrm>
            <a:off x="685800" y="365760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657600"/>
            <a:ext cx="73152" cy="182880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22191"/>
            <a:ext cx="4754880" cy="365760"/>
          </a:xfrm>
          <a:prstGeom prst="rect">
            <a:avLst/>
          </a:prstGeom>
          <a:noFill/>
        </p:spPr>
        <p:txBody>
          <a:bodyPr wrap="none">
            <a:spAutoFit/>
          </a:bodyPr>
          <a:lstStyle/>
          <a:p>
            <a:r>
              <a:rPr sz="1700" b="1">
                <a:solidFill>
                  <a:srgbClr val="14223A"/>
                </a:solidFill>
              </a:rPr>
              <a:t>Track</a:t>
            </a:r>
          </a:p>
        </p:txBody>
      </p:sp>
      <p:sp>
        <p:nvSpPr>
          <p:cNvPr id="16" name="TextBox 15"/>
          <p:cNvSpPr txBox="1"/>
          <p:nvPr/>
        </p:nvSpPr>
        <p:spPr>
          <a:xfrm>
            <a:off x="914400" y="4279392"/>
            <a:ext cx="4754880" cy="1078992"/>
          </a:xfrm>
          <a:prstGeom prst="rect">
            <a:avLst/>
          </a:prstGeom>
          <a:noFill/>
        </p:spPr>
        <p:txBody>
          <a:bodyPr wrap="square">
            <a:spAutoFit/>
          </a:bodyPr>
          <a:lstStyle/>
          <a:p>
            <a:r>
              <a:rPr sz="1300">
                <a:solidFill>
                  <a:srgbClr val="232830"/>
                </a:solidFill>
              </a:rPr>
              <a:t>Manage claims, verification and item status from report to recovery.</a:t>
            </a:r>
          </a:p>
        </p:txBody>
      </p:sp>
      <p:sp>
        <p:nvSpPr>
          <p:cNvPr id="17" name="Rounded Rectangle 16"/>
          <p:cNvSpPr/>
          <p:nvPr/>
        </p:nvSpPr>
        <p:spPr>
          <a:xfrm>
            <a:off x="6217920" y="365760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657600"/>
            <a:ext cx="73152" cy="18288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22191"/>
            <a:ext cx="4754880" cy="365760"/>
          </a:xfrm>
          <a:prstGeom prst="rect">
            <a:avLst/>
          </a:prstGeom>
          <a:noFill/>
        </p:spPr>
        <p:txBody>
          <a:bodyPr wrap="none">
            <a:spAutoFit/>
          </a:bodyPr>
          <a:lstStyle/>
          <a:p>
            <a:r>
              <a:rPr sz="1700" b="1">
                <a:solidFill>
                  <a:srgbClr val="14223A"/>
                </a:solidFill>
              </a:rPr>
              <a:t>Notify</a:t>
            </a:r>
          </a:p>
        </p:txBody>
      </p:sp>
      <p:sp>
        <p:nvSpPr>
          <p:cNvPr id="20" name="TextBox 19"/>
          <p:cNvSpPr txBox="1"/>
          <p:nvPr/>
        </p:nvSpPr>
        <p:spPr>
          <a:xfrm>
            <a:off x="6446520" y="4279392"/>
            <a:ext cx="4754880" cy="1078992"/>
          </a:xfrm>
          <a:prstGeom prst="rect">
            <a:avLst/>
          </a:prstGeom>
          <a:noFill/>
        </p:spPr>
        <p:txBody>
          <a:bodyPr wrap="square">
            <a:spAutoFit/>
          </a:bodyPr>
          <a:lstStyle/>
          <a:p>
            <a:r>
              <a:rPr sz="1300">
                <a:solidFill>
                  <a:srgbClr val="232830"/>
                </a:solidFill>
              </a:rPr>
              <a:t>Provide updates when relevant matches or status changes occur.</a:t>
            </a:r>
          </a:p>
        </p:txBody>
      </p:sp>
      <p:sp>
        <p:nvSpPr>
          <p:cNvPr id="21" name="Rectangle 20"/>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81360" y="6565392"/>
            <a:ext cx="548640" cy="182880"/>
          </a:xfrm>
          <a:prstGeom prst="rect">
            <a:avLst/>
          </a:prstGeom>
          <a:noFill/>
        </p:spPr>
        <p:txBody>
          <a:bodyPr wrap="none">
            <a:spAutoFit/>
          </a:bodyPr>
          <a:lstStyle/>
          <a:p>
            <a:pPr algn="r"/>
            <a:r>
              <a:rPr sz="900">
                <a:solidFill>
                  <a:srgbClr val="697380"/>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Proposed Solution</a:t>
            </a:r>
          </a:p>
        </p:txBody>
      </p:sp>
      <p:sp>
        <p:nvSpPr>
          <p:cNvPr id="5" name="TextBox 4"/>
          <p:cNvSpPr txBox="1"/>
          <p:nvPr/>
        </p:nvSpPr>
        <p:spPr>
          <a:xfrm>
            <a:off x="731520" y="1417320"/>
            <a:ext cx="10698480" cy="4663440"/>
          </a:xfrm>
          <a:prstGeom prst="rect">
            <a:avLst/>
          </a:prstGeom>
          <a:noFill/>
        </p:spPr>
        <p:txBody>
          <a:bodyPr wrap="square">
            <a:spAutoFit/>
          </a:bodyPr>
          <a:lstStyle/>
          <a:p>
            <a:pPr>
              <a:spcAft>
                <a:spcPts val="1200"/>
              </a:spcAft>
              <a:defRPr sz="2000" b="0">
                <a:solidFill>
                  <a:srgbClr val="232830"/>
                </a:solidFill>
              </a:defRPr>
            </a:pPr>
            <a:r>
              <a:t>User authentication for students and authorized administrators.</a:t>
            </a:r>
          </a:p>
          <a:p>
            <a:pPr>
              <a:spcAft>
                <a:spcPts val="1200"/>
              </a:spcAft>
              <a:defRPr sz="2000" b="0">
                <a:solidFill>
                  <a:srgbClr val="232830"/>
                </a:solidFill>
              </a:defRPr>
            </a:pPr>
            <a:r>
              <a:t>Lost and found item registration with structured details and optional images.</a:t>
            </a:r>
          </a:p>
          <a:p>
            <a:pPr>
              <a:spcAft>
                <a:spcPts val="1200"/>
              </a:spcAft>
              <a:defRPr sz="2000" b="0">
                <a:solidFill>
                  <a:srgbClr val="232830"/>
                </a:solidFill>
              </a:defRPr>
            </a:pPr>
            <a:r>
              <a:t>Search and filtering by category, location, date, and item description.</a:t>
            </a:r>
          </a:p>
          <a:p>
            <a:pPr>
              <a:spcAft>
                <a:spcPts val="1200"/>
              </a:spcAft>
              <a:defRPr sz="2000" b="0">
                <a:solidFill>
                  <a:srgbClr val="232830"/>
                </a:solidFill>
              </a:defRPr>
            </a:pPr>
            <a:r>
              <a:t>Potential-match logic to connect similar lost and found reports.</a:t>
            </a:r>
          </a:p>
          <a:p>
            <a:pPr>
              <a:spcAft>
                <a:spcPts val="1200"/>
              </a:spcAft>
              <a:defRPr sz="2000" b="0">
                <a:solidFill>
                  <a:srgbClr val="232830"/>
                </a:solidFill>
              </a:defRPr>
            </a:pPr>
            <a:r>
              <a:t>Claim workflow for users to request an item and administrators to verify it.</a:t>
            </a:r>
          </a:p>
          <a:p>
            <a:pPr>
              <a:spcAft>
                <a:spcPts val="1200"/>
              </a:spcAft>
              <a:defRPr sz="2000" b="0">
                <a:solidFill>
                  <a:srgbClr val="232830"/>
                </a:solidFill>
              </a:defRPr>
            </a:pPr>
            <a:r>
              <a:t>Status tracking such as Lost, Found, Claimed, Returned, or Closed.</a:t>
            </a:r>
          </a:p>
          <a:p>
            <a:pPr>
              <a:spcAft>
                <a:spcPts val="1200"/>
              </a:spcAft>
              <a:defRPr sz="2000" b="0">
                <a:solidFill>
                  <a:srgbClr val="232830"/>
                </a:solidFill>
              </a:defRPr>
            </a:pPr>
            <a:r>
              <a:t>Admin dashboard for monitoring reports, users, claims, and system activity.</a:t>
            </a:r>
          </a:p>
        </p:txBody>
      </p:sp>
      <p:sp>
        <p:nvSpPr>
          <p:cNvPr id="6" name="Rectangle 5"/>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565392"/>
            <a:ext cx="548640" cy="182880"/>
          </a:xfrm>
          <a:prstGeom prst="rect">
            <a:avLst/>
          </a:prstGeom>
          <a:noFill/>
        </p:spPr>
        <p:txBody>
          <a:bodyPr wrap="none">
            <a:spAutoFit/>
          </a:bodyPr>
          <a:lstStyle/>
          <a:p>
            <a:pPr algn="r"/>
            <a:r>
              <a:rPr sz="900">
                <a:solidFill>
                  <a:srgbClr val="697380"/>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Key Features</a:t>
            </a:r>
          </a:p>
        </p:txBody>
      </p:sp>
      <p:sp>
        <p:nvSpPr>
          <p:cNvPr id="5" name="Rounded Rectangle 4"/>
          <p:cNvSpPr/>
          <p:nvPr/>
        </p:nvSpPr>
        <p:spPr>
          <a:xfrm>
            <a:off x="594360" y="141732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17320"/>
            <a:ext cx="73152" cy="16916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81912"/>
            <a:ext cx="2103120" cy="365760"/>
          </a:xfrm>
          <a:prstGeom prst="rect">
            <a:avLst/>
          </a:prstGeom>
          <a:noFill/>
        </p:spPr>
        <p:txBody>
          <a:bodyPr wrap="none">
            <a:spAutoFit/>
          </a:bodyPr>
          <a:lstStyle/>
          <a:p>
            <a:r>
              <a:rPr sz="1700" b="1">
                <a:solidFill>
                  <a:srgbClr val="14223A"/>
                </a:solidFill>
              </a:rPr>
              <a:t>Register / Login</a:t>
            </a:r>
          </a:p>
        </p:txBody>
      </p:sp>
      <p:sp>
        <p:nvSpPr>
          <p:cNvPr id="8" name="TextBox 7"/>
          <p:cNvSpPr txBox="1"/>
          <p:nvPr/>
        </p:nvSpPr>
        <p:spPr>
          <a:xfrm>
            <a:off x="822960" y="2039112"/>
            <a:ext cx="2103120" cy="941832"/>
          </a:xfrm>
          <a:prstGeom prst="rect">
            <a:avLst/>
          </a:prstGeom>
          <a:noFill/>
        </p:spPr>
        <p:txBody>
          <a:bodyPr wrap="square">
            <a:spAutoFit/>
          </a:bodyPr>
          <a:lstStyle/>
          <a:p>
            <a:r>
              <a:rPr sz="1300">
                <a:solidFill>
                  <a:srgbClr val="232830"/>
                </a:solidFill>
              </a:rPr>
              <a:t>Secure user access</a:t>
            </a:r>
          </a:p>
        </p:txBody>
      </p:sp>
      <p:sp>
        <p:nvSpPr>
          <p:cNvPr id="9" name="Rounded Rectangle 8"/>
          <p:cNvSpPr/>
          <p:nvPr/>
        </p:nvSpPr>
        <p:spPr>
          <a:xfrm>
            <a:off x="3429000" y="141732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417320"/>
            <a:ext cx="73152" cy="169164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581912"/>
            <a:ext cx="2103120" cy="365760"/>
          </a:xfrm>
          <a:prstGeom prst="rect">
            <a:avLst/>
          </a:prstGeom>
          <a:noFill/>
        </p:spPr>
        <p:txBody>
          <a:bodyPr wrap="none">
            <a:spAutoFit/>
          </a:bodyPr>
          <a:lstStyle/>
          <a:p>
            <a:r>
              <a:rPr sz="1700" b="1">
                <a:solidFill>
                  <a:srgbClr val="14223A"/>
                </a:solidFill>
              </a:rPr>
              <a:t>Report Item</a:t>
            </a:r>
          </a:p>
        </p:txBody>
      </p:sp>
      <p:sp>
        <p:nvSpPr>
          <p:cNvPr id="12" name="TextBox 11"/>
          <p:cNvSpPr txBox="1"/>
          <p:nvPr/>
        </p:nvSpPr>
        <p:spPr>
          <a:xfrm>
            <a:off x="3657600" y="2039112"/>
            <a:ext cx="2103120" cy="941832"/>
          </a:xfrm>
          <a:prstGeom prst="rect">
            <a:avLst/>
          </a:prstGeom>
          <a:noFill/>
        </p:spPr>
        <p:txBody>
          <a:bodyPr wrap="square">
            <a:spAutoFit/>
          </a:bodyPr>
          <a:lstStyle/>
          <a:p>
            <a:r>
              <a:rPr sz="1300">
                <a:solidFill>
                  <a:srgbClr val="232830"/>
                </a:solidFill>
              </a:rPr>
              <a:t>Lost/found details + image</a:t>
            </a:r>
          </a:p>
        </p:txBody>
      </p:sp>
      <p:sp>
        <p:nvSpPr>
          <p:cNvPr id="13" name="Rounded Rectangle 12"/>
          <p:cNvSpPr/>
          <p:nvPr/>
        </p:nvSpPr>
        <p:spPr>
          <a:xfrm>
            <a:off x="6263640" y="141732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73152" cy="169164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581912"/>
            <a:ext cx="2103120" cy="365760"/>
          </a:xfrm>
          <a:prstGeom prst="rect">
            <a:avLst/>
          </a:prstGeom>
          <a:noFill/>
        </p:spPr>
        <p:txBody>
          <a:bodyPr wrap="none">
            <a:spAutoFit/>
          </a:bodyPr>
          <a:lstStyle/>
          <a:p>
            <a:r>
              <a:rPr sz="1700" b="1">
                <a:solidFill>
                  <a:srgbClr val="14223A"/>
                </a:solidFill>
              </a:rPr>
              <a:t>Campus Locations</a:t>
            </a:r>
          </a:p>
        </p:txBody>
      </p:sp>
      <p:sp>
        <p:nvSpPr>
          <p:cNvPr id="16" name="TextBox 15"/>
          <p:cNvSpPr txBox="1"/>
          <p:nvPr/>
        </p:nvSpPr>
        <p:spPr>
          <a:xfrm>
            <a:off x="6492240" y="2039112"/>
            <a:ext cx="2103120" cy="941832"/>
          </a:xfrm>
          <a:prstGeom prst="rect">
            <a:avLst/>
          </a:prstGeom>
          <a:noFill/>
        </p:spPr>
        <p:txBody>
          <a:bodyPr wrap="square">
            <a:spAutoFit/>
          </a:bodyPr>
          <a:lstStyle/>
          <a:p>
            <a:r>
              <a:rPr sz="1300">
                <a:solidFill>
                  <a:srgbClr val="232830"/>
                </a:solidFill>
              </a:rPr>
              <a:t>Blocks, library, canteen, hostels, etc.</a:t>
            </a:r>
          </a:p>
        </p:txBody>
      </p:sp>
      <p:sp>
        <p:nvSpPr>
          <p:cNvPr id="17" name="Rounded Rectangle 16"/>
          <p:cNvSpPr/>
          <p:nvPr/>
        </p:nvSpPr>
        <p:spPr>
          <a:xfrm>
            <a:off x="9098280" y="141732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1417320"/>
            <a:ext cx="73152" cy="16916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1581912"/>
            <a:ext cx="2103120" cy="365760"/>
          </a:xfrm>
          <a:prstGeom prst="rect">
            <a:avLst/>
          </a:prstGeom>
          <a:noFill/>
        </p:spPr>
        <p:txBody>
          <a:bodyPr wrap="none">
            <a:spAutoFit/>
          </a:bodyPr>
          <a:lstStyle/>
          <a:p>
            <a:r>
              <a:rPr sz="1700" b="1">
                <a:solidFill>
                  <a:srgbClr val="14223A"/>
                </a:solidFill>
              </a:rPr>
              <a:t>Search &amp; Filter</a:t>
            </a:r>
          </a:p>
        </p:txBody>
      </p:sp>
      <p:sp>
        <p:nvSpPr>
          <p:cNvPr id="20" name="TextBox 19"/>
          <p:cNvSpPr txBox="1"/>
          <p:nvPr/>
        </p:nvSpPr>
        <p:spPr>
          <a:xfrm>
            <a:off x="9326880" y="2039112"/>
            <a:ext cx="2103120" cy="941832"/>
          </a:xfrm>
          <a:prstGeom prst="rect">
            <a:avLst/>
          </a:prstGeom>
          <a:noFill/>
        </p:spPr>
        <p:txBody>
          <a:bodyPr wrap="square">
            <a:spAutoFit/>
          </a:bodyPr>
          <a:lstStyle/>
          <a:p>
            <a:r>
              <a:rPr sz="1300">
                <a:solidFill>
                  <a:srgbClr val="232830"/>
                </a:solidFill>
              </a:rPr>
              <a:t>Quickly narrow down reports</a:t>
            </a:r>
          </a:p>
        </p:txBody>
      </p:sp>
      <p:sp>
        <p:nvSpPr>
          <p:cNvPr id="21" name="Rounded Rectangle 20"/>
          <p:cNvSpPr/>
          <p:nvPr/>
        </p:nvSpPr>
        <p:spPr>
          <a:xfrm>
            <a:off x="594360" y="356616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3566160"/>
            <a:ext cx="73152" cy="16916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30752"/>
            <a:ext cx="2103120" cy="365760"/>
          </a:xfrm>
          <a:prstGeom prst="rect">
            <a:avLst/>
          </a:prstGeom>
          <a:noFill/>
        </p:spPr>
        <p:txBody>
          <a:bodyPr wrap="none">
            <a:spAutoFit/>
          </a:bodyPr>
          <a:lstStyle/>
          <a:p>
            <a:r>
              <a:rPr sz="1700" b="1">
                <a:solidFill>
                  <a:srgbClr val="14223A"/>
                </a:solidFill>
              </a:rPr>
              <a:t>Matching</a:t>
            </a:r>
          </a:p>
        </p:txBody>
      </p:sp>
      <p:sp>
        <p:nvSpPr>
          <p:cNvPr id="24" name="TextBox 23"/>
          <p:cNvSpPr txBox="1"/>
          <p:nvPr/>
        </p:nvSpPr>
        <p:spPr>
          <a:xfrm>
            <a:off x="822960" y="4187952"/>
            <a:ext cx="2103120" cy="941832"/>
          </a:xfrm>
          <a:prstGeom prst="rect">
            <a:avLst/>
          </a:prstGeom>
          <a:noFill/>
        </p:spPr>
        <p:txBody>
          <a:bodyPr wrap="square">
            <a:spAutoFit/>
          </a:bodyPr>
          <a:lstStyle/>
          <a:p>
            <a:r>
              <a:rPr sz="1300">
                <a:solidFill>
                  <a:srgbClr val="232830"/>
                </a:solidFill>
              </a:rPr>
              <a:t>Find potentially related reports</a:t>
            </a:r>
          </a:p>
        </p:txBody>
      </p:sp>
      <p:sp>
        <p:nvSpPr>
          <p:cNvPr id="25" name="Rounded Rectangle 24"/>
          <p:cNvSpPr/>
          <p:nvPr/>
        </p:nvSpPr>
        <p:spPr>
          <a:xfrm>
            <a:off x="3429000" y="356616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29000" y="3566160"/>
            <a:ext cx="73152" cy="169164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3730752"/>
            <a:ext cx="2103120" cy="365760"/>
          </a:xfrm>
          <a:prstGeom prst="rect">
            <a:avLst/>
          </a:prstGeom>
          <a:noFill/>
        </p:spPr>
        <p:txBody>
          <a:bodyPr wrap="none">
            <a:spAutoFit/>
          </a:bodyPr>
          <a:lstStyle/>
          <a:p>
            <a:r>
              <a:rPr sz="1700" b="1">
                <a:solidFill>
                  <a:srgbClr val="14223A"/>
                </a:solidFill>
              </a:rPr>
              <a:t>Claims</a:t>
            </a:r>
          </a:p>
        </p:txBody>
      </p:sp>
      <p:sp>
        <p:nvSpPr>
          <p:cNvPr id="28" name="TextBox 27"/>
          <p:cNvSpPr txBox="1"/>
          <p:nvPr/>
        </p:nvSpPr>
        <p:spPr>
          <a:xfrm>
            <a:off x="3657600" y="4187952"/>
            <a:ext cx="2103120" cy="941832"/>
          </a:xfrm>
          <a:prstGeom prst="rect">
            <a:avLst/>
          </a:prstGeom>
          <a:noFill/>
        </p:spPr>
        <p:txBody>
          <a:bodyPr wrap="square">
            <a:spAutoFit/>
          </a:bodyPr>
          <a:lstStyle/>
          <a:p>
            <a:r>
              <a:rPr sz="1300">
                <a:solidFill>
                  <a:srgbClr val="232830"/>
                </a:solidFill>
              </a:rPr>
              <a:t>Request and verify ownership</a:t>
            </a:r>
          </a:p>
        </p:txBody>
      </p:sp>
      <p:sp>
        <p:nvSpPr>
          <p:cNvPr id="29" name="Rounded Rectangle 28"/>
          <p:cNvSpPr/>
          <p:nvPr/>
        </p:nvSpPr>
        <p:spPr>
          <a:xfrm>
            <a:off x="6263640" y="356616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3566160"/>
            <a:ext cx="73152" cy="169164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730752"/>
            <a:ext cx="2103120" cy="365760"/>
          </a:xfrm>
          <a:prstGeom prst="rect">
            <a:avLst/>
          </a:prstGeom>
          <a:noFill/>
        </p:spPr>
        <p:txBody>
          <a:bodyPr wrap="none">
            <a:spAutoFit/>
          </a:bodyPr>
          <a:lstStyle/>
          <a:p>
            <a:r>
              <a:rPr sz="1700" b="1">
                <a:solidFill>
                  <a:srgbClr val="14223A"/>
                </a:solidFill>
              </a:rPr>
              <a:t>Notifications</a:t>
            </a:r>
          </a:p>
        </p:txBody>
      </p:sp>
      <p:sp>
        <p:nvSpPr>
          <p:cNvPr id="32" name="TextBox 31"/>
          <p:cNvSpPr txBox="1"/>
          <p:nvPr/>
        </p:nvSpPr>
        <p:spPr>
          <a:xfrm>
            <a:off x="6492240" y="4187952"/>
            <a:ext cx="2103120" cy="941832"/>
          </a:xfrm>
          <a:prstGeom prst="rect">
            <a:avLst/>
          </a:prstGeom>
          <a:noFill/>
        </p:spPr>
        <p:txBody>
          <a:bodyPr wrap="square">
            <a:spAutoFit/>
          </a:bodyPr>
          <a:lstStyle/>
          <a:p>
            <a:r>
              <a:rPr sz="1300">
                <a:solidFill>
                  <a:srgbClr val="232830"/>
                </a:solidFill>
              </a:rPr>
              <a:t>Updates for matches/status</a:t>
            </a:r>
          </a:p>
        </p:txBody>
      </p:sp>
      <p:sp>
        <p:nvSpPr>
          <p:cNvPr id="33" name="Rounded Rectangle 32"/>
          <p:cNvSpPr/>
          <p:nvPr/>
        </p:nvSpPr>
        <p:spPr>
          <a:xfrm>
            <a:off x="9098280" y="3566160"/>
            <a:ext cx="2514600" cy="16916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98280" y="3566160"/>
            <a:ext cx="73152" cy="16916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3730752"/>
            <a:ext cx="2103120" cy="365760"/>
          </a:xfrm>
          <a:prstGeom prst="rect">
            <a:avLst/>
          </a:prstGeom>
          <a:noFill/>
        </p:spPr>
        <p:txBody>
          <a:bodyPr wrap="none">
            <a:spAutoFit/>
          </a:bodyPr>
          <a:lstStyle/>
          <a:p>
            <a:r>
              <a:rPr sz="1700" b="1">
                <a:solidFill>
                  <a:srgbClr val="14223A"/>
                </a:solidFill>
              </a:rPr>
              <a:t>Admin Dashboard</a:t>
            </a:r>
          </a:p>
        </p:txBody>
      </p:sp>
      <p:sp>
        <p:nvSpPr>
          <p:cNvPr id="36" name="TextBox 35"/>
          <p:cNvSpPr txBox="1"/>
          <p:nvPr/>
        </p:nvSpPr>
        <p:spPr>
          <a:xfrm>
            <a:off x="9326880" y="4187952"/>
            <a:ext cx="2103120" cy="941832"/>
          </a:xfrm>
          <a:prstGeom prst="rect">
            <a:avLst/>
          </a:prstGeom>
          <a:noFill/>
        </p:spPr>
        <p:txBody>
          <a:bodyPr wrap="square">
            <a:spAutoFit/>
          </a:bodyPr>
          <a:lstStyle/>
          <a:p>
            <a:r>
              <a:rPr sz="1300">
                <a:solidFill>
                  <a:srgbClr val="232830"/>
                </a:solidFill>
              </a:rPr>
              <a:t>Moderation and management</a:t>
            </a:r>
          </a:p>
        </p:txBody>
      </p:sp>
      <p:sp>
        <p:nvSpPr>
          <p:cNvPr id="37" name="Rectangle 36"/>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81360" y="6565392"/>
            <a:ext cx="548640" cy="182880"/>
          </a:xfrm>
          <a:prstGeom prst="rect">
            <a:avLst/>
          </a:prstGeom>
          <a:noFill/>
        </p:spPr>
        <p:txBody>
          <a:bodyPr wrap="none">
            <a:spAutoFit/>
          </a:bodyPr>
          <a:lstStyle/>
          <a:p>
            <a:pPr algn="r"/>
            <a:r>
              <a:rPr sz="900">
                <a:solidFill>
                  <a:srgbClr val="697380"/>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Technology Stack</a:t>
            </a:r>
          </a:p>
        </p:txBody>
      </p:sp>
      <p:sp>
        <p:nvSpPr>
          <p:cNvPr id="5" name="Rounded Rectangle 4"/>
          <p:cNvSpPr/>
          <p:nvPr/>
        </p:nvSpPr>
        <p:spPr>
          <a:xfrm>
            <a:off x="640080" y="1417320"/>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1874519"/>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3017520" cy="365760"/>
          </a:xfrm>
          <a:prstGeom prst="rect">
            <a:avLst/>
          </a:prstGeom>
          <a:noFill/>
        </p:spPr>
        <p:txBody>
          <a:bodyPr wrap="none">
            <a:spAutoFit/>
          </a:bodyPr>
          <a:lstStyle/>
          <a:p>
            <a:r>
              <a:rPr sz="1700" b="1">
                <a:solidFill>
                  <a:srgbClr val="14223A"/>
                </a:solidFill>
              </a:rPr>
              <a:t>Frontend</a:t>
            </a:r>
          </a:p>
        </p:txBody>
      </p:sp>
      <p:sp>
        <p:nvSpPr>
          <p:cNvPr id="8" name="TextBox 7"/>
          <p:cNvSpPr txBox="1"/>
          <p:nvPr/>
        </p:nvSpPr>
        <p:spPr>
          <a:xfrm>
            <a:off x="868680" y="2039112"/>
            <a:ext cx="3017520" cy="1124712"/>
          </a:xfrm>
          <a:prstGeom prst="rect">
            <a:avLst/>
          </a:prstGeom>
          <a:noFill/>
        </p:spPr>
        <p:txBody>
          <a:bodyPr wrap="square">
            <a:spAutoFit/>
          </a:bodyPr>
          <a:lstStyle/>
          <a:p>
            <a:r>
              <a:rPr sz="1300">
                <a:solidFill>
                  <a:srgbClr val="232830"/>
                </a:solidFill>
              </a:rPr>
              <a:t>HTML / CSS / JavaScript
Responsive web interface</a:t>
            </a:r>
          </a:p>
        </p:txBody>
      </p:sp>
      <p:sp>
        <p:nvSpPr>
          <p:cNvPr id="9" name="Rounded Rectangle 8"/>
          <p:cNvSpPr/>
          <p:nvPr/>
        </p:nvSpPr>
        <p:spPr>
          <a:xfrm>
            <a:off x="4434840" y="1417320"/>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417320"/>
            <a:ext cx="73152" cy="1874519"/>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81912"/>
            <a:ext cx="3017520" cy="365760"/>
          </a:xfrm>
          <a:prstGeom prst="rect">
            <a:avLst/>
          </a:prstGeom>
          <a:noFill/>
        </p:spPr>
        <p:txBody>
          <a:bodyPr wrap="none">
            <a:spAutoFit/>
          </a:bodyPr>
          <a:lstStyle/>
          <a:p>
            <a:r>
              <a:rPr sz="1700" b="1">
                <a:solidFill>
                  <a:srgbClr val="14223A"/>
                </a:solidFill>
              </a:rPr>
              <a:t>Backend</a:t>
            </a:r>
          </a:p>
        </p:txBody>
      </p:sp>
      <p:sp>
        <p:nvSpPr>
          <p:cNvPr id="12" name="TextBox 11"/>
          <p:cNvSpPr txBox="1"/>
          <p:nvPr/>
        </p:nvSpPr>
        <p:spPr>
          <a:xfrm>
            <a:off x="4663440" y="2039112"/>
            <a:ext cx="3017520" cy="1124712"/>
          </a:xfrm>
          <a:prstGeom prst="rect">
            <a:avLst/>
          </a:prstGeom>
          <a:noFill/>
        </p:spPr>
        <p:txBody>
          <a:bodyPr wrap="square">
            <a:spAutoFit/>
          </a:bodyPr>
          <a:lstStyle/>
          <a:p>
            <a:r>
              <a:rPr sz="1300">
                <a:solidFill>
                  <a:srgbClr val="232830"/>
                </a:solidFill>
              </a:rPr>
              <a:t>Node.js + Express.js
REST API layer</a:t>
            </a:r>
          </a:p>
        </p:txBody>
      </p:sp>
      <p:sp>
        <p:nvSpPr>
          <p:cNvPr id="13" name="Rounded Rectangle 12"/>
          <p:cNvSpPr/>
          <p:nvPr/>
        </p:nvSpPr>
        <p:spPr>
          <a:xfrm>
            <a:off x="8229600" y="1417320"/>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417320"/>
            <a:ext cx="73152" cy="1874519"/>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581912"/>
            <a:ext cx="3017520" cy="365760"/>
          </a:xfrm>
          <a:prstGeom prst="rect">
            <a:avLst/>
          </a:prstGeom>
          <a:noFill/>
        </p:spPr>
        <p:txBody>
          <a:bodyPr wrap="none">
            <a:spAutoFit/>
          </a:bodyPr>
          <a:lstStyle/>
          <a:p>
            <a:r>
              <a:rPr sz="1700" b="1">
                <a:solidFill>
                  <a:srgbClr val="14223A"/>
                </a:solidFill>
              </a:rPr>
              <a:t>Database</a:t>
            </a:r>
          </a:p>
        </p:txBody>
      </p:sp>
      <p:sp>
        <p:nvSpPr>
          <p:cNvPr id="16" name="TextBox 15"/>
          <p:cNvSpPr txBox="1"/>
          <p:nvPr/>
        </p:nvSpPr>
        <p:spPr>
          <a:xfrm>
            <a:off x="8458200" y="2039112"/>
            <a:ext cx="3017520" cy="1124712"/>
          </a:xfrm>
          <a:prstGeom prst="rect">
            <a:avLst/>
          </a:prstGeom>
          <a:noFill/>
        </p:spPr>
        <p:txBody>
          <a:bodyPr wrap="square">
            <a:spAutoFit/>
          </a:bodyPr>
          <a:lstStyle/>
          <a:p>
            <a:r>
              <a:rPr sz="1300">
                <a:solidFill>
                  <a:srgbClr val="232830"/>
                </a:solidFill>
              </a:rPr>
              <a:t>MongoDB / MongoDB Atlas
Collections for users and items</a:t>
            </a:r>
          </a:p>
        </p:txBody>
      </p:sp>
      <p:sp>
        <p:nvSpPr>
          <p:cNvPr id="17" name="Rounded Rectangle 16"/>
          <p:cNvSpPr/>
          <p:nvPr/>
        </p:nvSpPr>
        <p:spPr>
          <a:xfrm>
            <a:off x="640080" y="3749039"/>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749039"/>
            <a:ext cx="73152" cy="1874519"/>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913631"/>
            <a:ext cx="3017520" cy="365760"/>
          </a:xfrm>
          <a:prstGeom prst="rect">
            <a:avLst/>
          </a:prstGeom>
          <a:noFill/>
        </p:spPr>
        <p:txBody>
          <a:bodyPr wrap="none">
            <a:spAutoFit/>
          </a:bodyPr>
          <a:lstStyle/>
          <a:p>
            <a:r>
              <a:rPr sz="1700" b="1">
                <a:solidFill>
                  <a:srgbClr val="14223A"/>
                </a:solidFill>
              </a:rPr>
              <a:t>Development</a:t>
            </a:r>
          </a:p>
        </p:txBody>
      </p:sp>
      <p:sp>
        <p:nvSpPr>
          <p:cNvPr id="20" name="TextBox 19"/>
          <p:cNvSpPr txBox="1"/>
          <p:nvPr/>
        </p:nvSpPr>
        <p:spPr>
          <a:xfrm>
            <a:off x="868680" y="4370831"/>
            <a:ext cx="3017520" cy="1124712"/>
          </a:xfrm>
          <a:prstGeom prst="rect">
            <a:avLst/>
          </a:prstGeom>
          <a:noFill/>
        </p:spPr>
        <p:txBody>
          <a:bodyPr wrap="square">
            <a:spAutoFit/>
          </a:bodyPr>
          <a:lstStyle/>
          <a:p>
            <a:r>
              <a:rPr sz="1300">
                <a:solidFill>
                  <a:srgbClr val="232830"/>
                </a:solidFill>
              </a:rPr>
              <a:t>VS Code + npm
Git / GitHub for version control</a:t>
            </a:r>
          </a:p>
        </p:txBody>
      </p:sp>
      <p:sp>
        <p:nvSpPr>
          <p:cNvPr id="21" name="Rounded Rectangle 20"/>
          <p:cNvSpPr/>
          <p:nvPr/>
        </p:nvSpPr>
        <p:spPr>
          <a:xfrm>
            <a:off x="4434840" y="3749039"/>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749039"/>
            <a:ext cx="73152" cy="1874519"/>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913631"/>
            <a:ext cx="3017520" cy="365760"/>
          </a:xfrm>
          <a:prstGeom prst="rect">
            <a:avLst/>
          </a:prstGeom>
          <a:noFill/>
        </p:spPr>
        <p:txBody>
          <a:bodyPr wrap="none">
            <a:spAutoFit/>
          </a:bodyPr>
          <a:lstStyle/>
          <a:p>
            <a:r>
              <a:rPr sz="1700" b="1">
                <a:solidFill>
                  <a:srgbClr val="14223A"/>
                </a:solidFill>
              </a:rPr>
              <a:t>Data Format</a:t>
            </a:r>
          </a:p>
        </p:txBody>
      </p:sp>
      <p:sp>
        <p:nvSpPr>
          <p:cNvPr id="24" name="TextBox 23"/>
          <p:cNvSpPr txBox="1"/>
          <p:nvPr/>
        </p:nvSpPr>
        <p:spPr>
          <a:xfrm>
            <a:off x="4663440" y="4370831"/>
            <a:ext cx="3017520" cy="1124712"/>
          </a:xfrm>
          <a:prstGeom prst="rect">
            <a:avLst/>
          </a:prstGeom>
          <a:noFill/>
        </p:spPr>
        <p:txBody>
          <a:bodyPr wrap="square">
            <a:spAutoFit/>
          </a:bodyPr>
          <a:lstStyle/>
          <a:p>
            <a:r>
              <a:rPr sz="1300">
                <a:solidFill>
                  <a:srgbClr val="232830"/>
                </a:solidFill>
              </a:rPr>
              <a:t>JSON
API request/response format</a:t>
            </a:r>
          </a:p>
        </p:txBody>
      </p:sp>
      <p:sp>
        <p:nvSpPr>
          <p:cNvPr id="25" name="Rounded Rectangle 24"/>
          <p:cNvSpPr/>
          <p:nvPr/>
        </p:nvSpPr>
        <p:spPr>
          <a:xfrm>
            <a:off x="8229600" y="3749039"/>
            <a:ext cx="3429000" cy="1874519"/>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3749039"/>
            <a:ext cx="73152" cy="1874519"/>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3913631"/>
            <a:ext cx="3017520" cy="365760"/>
          </a:xfrm>
          <a:prstGeom prst="rect">
            <a:avLst/>
          </a:prstGeom>
          <a:noFill/>
        </p:spPr>
        <p:txBody>
          <a:bodyPr wrap="none">
            <a:spAutoFit/>
          </a:bodyPr>
          <a:lstStyle/>
          <a:p>
            <a:r>
              <a:rPr sz="1700" b="1">
                <a:solidFill>
                  <a:srgbClr val="14223A"/>
                </a:solidFill>
              </a:rPr>
              <a:t>Tools</a:t>
            </a:r>
          </a:p>
        </p:txBody>
      </p:sp>
      <p:sp>
        <p:nvSpPr>
          <p:cNvPr id="28" name="TextBox 27"/>
          <p:cNvSpPr txBox="1"/>
          <p:nvPr/>
        </p:nvSpPr>
        <p:spPr>
          <a:xfrm>
            <a:off x="8458200" y="4370831"/>
            <a:ext cx="3017520" cy="1124712"/>
          </a:xfrm>
          <a:prstGeom prst="rect">
            <a:avLst/>
          </a:prstGeom>
          <a:noFill/>
        </p:spPr>
        <p:txBody>
          <a:bodyPr wrap="square">
            <a:spAutoFit/>
          </a:bodyPr>
          <a:lstStyle/>
          <a:p>
            <a:r>
              <a:rPr sz="1300">
                <a:solidFill>
                  <a:srgbClr val="232830"/>
                </a:solidFill>
              </a:rPr>
              <a:t>MongoDB Compass
Database inspection and testing</a:t>
            </a:r>
          </a:p>
        </p:txBody>
      </p:sp>
      <p:sp>
        <p:nvSpPr>
          <p:cNvPr id="29" name="Rectangle 28"/>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0" y="6565392"/>
            <a:ext cx="548640" cy="182880"/>
          </a:xfrm>
          <a:prstGeom prst="rect">
            <a:avLst/>
          </a:prstGeom>
          <a:noFill/>
        </p:spPr>
        <p:txBody>
          <a:bodyPr wrap="none">
            <a:spAutoFit/>
          </a:bodyPr>
          <a:lstStyle/>
          <a:p>
            <a:pPr algn="r"/>
            <a:r>
              <a:rPr sz="900">
                <a:solidFill>
                  <a:srgbClr val="697380"/>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System Architecture</a:t>
            </a:r>
          </a:p>
        </p:txBody>
      </p:sp>
      <p:sp>
        <p:nvSpPr>
          <p:cNvPr id="5" name="TextBox 4"/>
          <p:cNvSpPr txBox="1"/>
          <p:nvPr/>
        </p:nvSpPr>
        <p:spPr>
          <a:xfrm>
            <a:off x="612648" y="987552"/>
            <a:ext cx="10789920" cy="365760"/>
          </a:xfrm>
          <a:prstGeom prst="rect">
            <a:avLst/>
          </a:prstGeom>
          <a:noFill/>
        </p:spPr>
        <p:txBody>
          <a:bodyPr wrap="none">
            <a:spAutoFit/>
          </a:bodyPr>
          <a:lstStyle/>
          <a:p>
            <a:r>
              <a:rPr sz="1200">
                <a:solidFill>
                  <a:srgbClr val="697380"/>
                </a:solidFill>
              </a:rPr>
              <a:t>Three-layer web architecture with REST-based communication</a:t>
            </a:r>
          </a:p>
        </p:txBody>
      </p:sp>
      <p:sp>
        <p:nvSpPr>
          <p:cNvPr id="6" name="Rounded Rectangle 5"/>
          <p:cNvSpPr/>
          <p:nvPr/>
        </p:nvSpPr>
        <p:spPr>
          <a:xfrm>
            <a:off x="640080" y="2057400"/>
            <a:ext cx="2377440" cy="1417320"/>
          </a:xfrm>
          <a:prstGeom prst="roundRect">
            <a:avLst/>
          </a:prstGeom>
          <a:solidFill>
            <a:srgbClr val="F5F7FA"/>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2103120" cy="457200"/>
          </a:xfrm>
          <a:prstGeom prst="rect">
            <a:avLst/>
          </a:prstGeom>
          <a:noFill/>
        </p:spPr>
        <p:txBody>
          <a:bodyPr wrap="none">
            <a:spAutoFit/>
          </a:bodyPr>
          <a:lstStyle/>
          <a:p>
            <a:pPr algn="ctr"/>
            <a:r>
              <a:rPr sz="1600" b="1">
                <a:solidFill>
                  <a:srgbClr val="14223A"/>
                </a:solidFill>
              </a:rPr>
              <a:t>USER / BROWSER</a:t>
            </a:r>
          </a:p>
        </p:txBody>
      </p:sp>
      <p:sp>
        <p:nvSpPr>
          <p:cNvPr id="8" name="TextBox 7"/>
          <p:cNvSpPr txBox="1"/>
          <p:nvPr/>
        </p:nvSpPr>
        <p:spPr>
          <a:xfrm>
            <a:off x="777240" y="2807208"/>
            <a:ext cx="2103120" cy="411480"/>
          </a:xfrm>
          <a:prstGeom prst="rect">
            <a:avLst/>
          </a:prstGeom>
          <a:noFill/>
        </p:spPr>
        <p:txBody>
          <a:bodyPr wrap="none">
            <a:spAutoFit/>
          </a:bodyPr>
          <a:lstStyle/>
          <a:p>
            <a:pPr algn="ctr"/>
            <a:r>
              <a:rPr sz="1200">
                <a:solidFill>
                  <a:srgbClr val="232830"/>
                </a:solidFill>
              </a:rPr>
              <a:t>Student or Admin</a:t>
            </a:r>
          </a:p>
        </p:txBody>
      </p:sp>
      <p:sp>
        <p:nvSpPr>
          <p:cNvPr id="9" name="Rounded Rectangle 8"/>
          <p:cNvSpPr/>
          <p:nvPr/>
        </p:nvSpPr>
        <p:spPr>
          <a:xfrm>
            <a:off x="4892040" y="2057400"/>
            <a:ext cx="2560320" cy="1417320"/>
          </a:xfrm>
          <a:prstGeom prst="roundRect">
            <a:avLst/>
          </a:prstGeom>
          <a:solidFill>
            <a:srgbClr val="F5F7FA"/>
          </a:solidFill>
          <a:ln>
            <a:solidFill>
              <a:srgbClr val="318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2286000"/>
            <a:ext cx="2286000" cy="457200"/>
          </a:xfrm>
          <a:prstGeom prst="rect">
            <a:avLst/>
          </a:prstGeom>
          <a:noFill/>
        </p:spPr>
        <p:txBody>
          <a:bodyPr wrap="none">
            <a:spAutoFit/>
          </a:bodyPr>
          <a:lstStyle/>
          <a:p>
            <a:pPr algn="ctr"/>
            <a:r>
              <a:rPr sz="1600" b="1">
                <a:solidFill>
                  <a:srgbClr val="14223A"/>
                </a:solidFill>
              </a:rPr>
              <a:t>NODE.JS + EXPRESS</a:t>
            </a:r>
          </a:p>
        </p:txBody>
      </p:sp>
      <p:sp>
        <p:nvSpPr>
          <p:cNvPr id="11" name="TextBox 10"/>
          <p:cNvSpPr txBox="1"/>
          <p:nvPr/>
        </p:nvSpPr>
        <p:spPr>
          <a:xfrm>
            <a:off x="5029200" y="2807208"/>
            <a:ext cx="2286000" cy="411480"/>
          </a:xfrm>
          <a:prstGeom prst="rect">
            <a:avLst/>
          </a:prstGeom>
          <a:noFill/>
        </p:spPr>
        <p:txBody>
          <a:bodyPr wrap="none">
            <a:spAutoFit/>
          </a:bodyPr>
          <a:lstStyle/>
          <a:p>
            <a:pPr algn="ctr"/>
            <a:r>
              <a:rPr sz="1200">
                <a:solidFill>
                  <a:srgbClr val="232830"/>
                </a:solidFill>
              </a:rPr>
              <a:t>REST API / Business Logic</a:t>
            </a:r>
          </a:p>
        </p:txBody>
      </p:sp>
      <p:sp>
        <p:nvSpPr>
          <p:cNvPr id="12" name="Rounded Rectangle 11"/>
          <p:cNvSpPr/>
          <p:nvPr/>
        </p:nvSpPr>
        <p:spPr>
          <a:xfrm>
            <a:off x="9144000" y="2057400"/>
            <a:ext cx="2377440" cy="1417320"/>
          </a:xfrm>
          <a:prstGeom prst="roundRect">
            <a:avLst/>
          </a:prstGeom>
          <a:solidFill>
            <a:srgbClr val="F5F7FA"/>
          </a:solidFill>
          <a:ln>
            <a:solidFill>
              <a:srgbClr val="E087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2286000"/>
            <a:ext cx="2103120" cy="457200"/>
          </a:xfrm>
          <a:prstGeom prst="rect">
            <a:avLst/>
          </a:prstGeom>
          <a:noFill/>
        </p:spPr>
        <p:txBody>
          <a:bodyPr wrap="none">
            <a:spAutoFit/>
          </a:bodyPr>
          <a:lstStyle/>
          <a:p>
            <a:pPr algn="ctr"/>
            <a:r>
              <a:rPr sz="1600" b="1">
                <a:solidFill>
                  <a:srgbClr val="14223A"/>
                </a:solidFill>
              </a:rPr>
              <a:t>MONGODB</a:t>
            </a:r>
          </a:p>
        </p:txBody>
      </p:sp>
      <p:sp>
        <p:nvSpPr>
          <p:cNvPr id="14" name="TextBox 13"/>
          <p:cNvSpPr txBox="1"/>
          <p:nvPr/>
        </p:nvSpPr>
        <p:spPr>
          <a:xfrm>
            <a:off x="9281160" y="2807208"/>
            <a:ext cx="2103120" cy="411480"/>
          </a:xfrm>
          <a:prstGeom prst="rect">
            <a:avLst/>
          </a:prstGeom>
          <a:noFill/>
        </p:spPr>
        <p:txBody>
          <a:bodyPr wrap="none">
            <a:spAutoFit/>
          </a:bodyPr>
          <a:lstStyle/>
          <a:p>
            <a:pPr algn="ctr"/>
            <a:r>
              <a:rPr sz="1200">
                <a:solidFill>
                  <a:srgbClr val="232830"/>
                </a:solidFill>
              </a:rPr>
              <a:t>Users / Items / Claims</a:t>
            </a:r>
          </a:p>
        </p:txBody>
      </p:sp>
      <p:cxnSp>
        <p:nvCxnSpPr>
          <p:cNvPr id="15" name="Connector 14"/>
          <p:cNvCxnSpPr/>
          <p:nvPr/>
        </p:nvCxnSpPr>
        <p:spPr>
          <a:xfrm>
            <a:off x="3017520" y="2761488"/>
            <a:ext cx="1874520" cy="0"/>
          </a:xfrm>
          <a:prstGeom prst="line">
            <a:avLst/>
          </a:prstGeom>
          <a:ln w="25400">
            <a:solidFill>
              <a:srgbClr val="6973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52360" y="2761488"/>
            <a:ext cx="1691640" cy="0"/>
          </a:xfrm>
          <a:prstGeom prst="line">
            <a:avLst/>
          </a:prstGeom>
          <a:ln w="25400">
            <a:solidFill>
              <a:srgbClr val="69738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97280" y="4251960"/>
            <a:ext cx="2926080" cy="12344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4251960"/>
            <a:ext cx="73152" cy="12344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4416552"/>
            <a:ext cx="2514600" cy="365760"/>
          </a:xfrm>
          <a:prstGeom prst="rect">
            <a:avLst/>
          </a:prstGeom>
          <a:noFill/>
        </p:spPr>
        <p:txBody>
          <a:bodyPr wrap="none">
            <a:spAutoFit/>
          </a:bodyPr>
          <a:lstStyle/>
          <a:p>
            <a:r>
              <a:rPr sz="1700" b="1">
                <a:solidFill>
                  <a:srgbClr val="14223A"/>
                </a:solidFill>
              </a:rPr>
              <a:t>Authentication</a:t>
            </a:r>
          </a:p>
        </p:txBody>
      </p:sp>
      <p:sp>
        <p:nvSpPr>
          <p:cNvPr id="20" name="TextBox 19"/>
          <p:cNvSpPr txBox="1"/>
          <p:nvPr/>
        </p:nvSpPr>
        <p:spPr>
          <a:xfrm>
            <a:off x="1325880" y="4873752"/>
            <a:ext cx="2514600" cy="484632"/>
          </a:xfrm>
          <a:prstGeom prst="rect">
            <a:avLst/>
          </a:prstGeom>
          <a:noFill/>
        </p:spPr>
        <p:txBody>
          <a:bodyPr wrap="square">
            <a:spAutoFit/>
          </a:bodyPr>
          <a:lstStyle/>
          <a:p>
            <a:r>
              <a:rPr sz="1300">
                <a:solidFill>
                  <a:srgbClr val="232830"/>
                </a:solidFill>
              </a:rPr>
              <a:t>Login, registration and access control</a:t>
            </a:r>
          </a:p>
        </p:txBody>
      </p:sp>
      <p:sp>
        <p:nvSpPr>
          <p:cNvPr id="21" name="Rounded Rectangle 20"/>
          <p:cNvSpPr/>
          <p:nvPr/>
        </p:nvSpPr>
        <p:spPr>
          <a:xfrm>
            <a:off x="4617720" y="4251960"/>
            <a:ext cx="2926080" cy="12344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17720" y="4251960"/>
            <a:ext cx="73152" cy="123444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416552"/>
            <a:ext cx="2514600" cy="365760"/>
          </a:xfrm>
          <a:prstGeom prst="rect">
            <a:avLst/>
          </a:prstGeom>
          <a:noFill/>
        </p:spPr>
        <p:txBody>
          <a:bodyPr wrap="none">
            <a:spAutoFit/>
          </a:bodyPr>
          <a:lstStyle/>
          <a:p>
            <a:r>
              <a:rPr sz="1700" b="1">
                <a:solidFill>
                  <a:srgbClr val="14223A"/>
                </a:solidFill>
              </a:rPr>
              <a:t>Matching Engine</a:t>
            </a:r>
          </a:p>
        </p:txBody>
      </p:sp>
      <p:sp>
        <p:nvSpPr>
          <p:cNvPr id="24" name="TextBox 23"/>
          <p:cNvSpPr txBox="1"/>
          <p:nvPr/>
        </p:nvSpPr>
        <p:spPr>
          <a:xfrm>
            <a:off x="4846320" y="4873752"/>
            <a:ext cx="2514600" cy="484632"/>
          </a:xfrm>
          <a:prstGeom prst="rect">
            <a:avLst/>
          </a:prstGeom>
          <a:noFill/>
        </p:spPr>
        <p:txBody>
          <a:bodyPr wrap="square">
            <a:spAutoFit/>
          </a:bodyPr>
          <a:lstStyle/>
          <a:p>
            <a:r>
              <a:rPr sz="1300">
                <a:solidFill>
                  <a:srgbClr val="232830"/>
                </a:solidFill>
              </a:rPr>
              <a:t>Category + description + date + location</a:t>
            </a:r>
          </a:p>
        </p:txBody>
      </p:sp>
      <p:sp>
        <p:nvSpPr>
          <p:cNvPr id="25" name="Rounded Rectangle 24"/>
          <p:cNvSpPr/>
          <p:nvPr/>
        </p:nvSpPr>
        <p:spPr>
          <a:xfrm>
            <a:off x="8138160" y="4251960"/>
            <a:ext cx="2926080" cy="12344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4251960"/>
            <a:ext cx="73152" cy="123444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4416552"/>
            <a:ext cx="2514600" cy="365760"/>
          </a:xfrm>
          <a:prstGeom prst="rect">
            <a:avLst/>
          </a:prstGeom>
          <a:noFill/>
        </p:spPr>
        <p:txBody>
          <a:bodyPr wrap="none">
            <a:spAutoFit/>
          </a:bodyPr>
          <a:lstStyle/>
          <a:p>
            <a:r>
              <a:rPr sz="1700" b="1">
                <a:solidFill>
                  <a:srgbClr val="14223A"/>
                </a:solidFill>
              </a:rPr>
              <a:t>Admin Controls</a:t>
            </a:r>
          </a:p>
        </p:txBody>
      </p:sp>
      <p:sp>
        <p:nvSpPr>
          <p:cNvPr id="28" name="TextBox 27"/>
          <p:cNvSpPr txBox="1"/>
          <p:nvPr/>
        </p:nvSpPr>
        <p:spPr>
          <a:xfrm>
            <a:off x="8366760" y="4873752"/>
            <a:ext cx="2514600" cy="484632"/>
          </a:xfrm>
          <a:prstGeom prst="rect">
            <a:avLst/>
          </a:prstGeom>
          <a:noFill/>
        </p:spPr>
        <p:txBody>
          <a:bodyPr wrap="square">
            <a:spAutoFit/>
          </a:bodyPr>
          <a:lstStyle/>
          <a:p>
            <a:r>
              <a:rPr sz="1300">
                <a:solidFill>
                  <a:srgbClr val="232830"/>
                </a:solidFill>
              </a:rPr>
              <a:t>Claims, verification and status updates</a:t>
            </a:r>
          </a:p>
        </p:txBody>
      </p:sp>
      <p:sp>
        <p:nvSpPr>
          <p:cNvPr id="29" name="Rectangle 28"/>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0" y="6565392"/>
            <a:ext cx="548640" cy="182880"/>
          </a:xfrm>
          <a:prstGeom prst="rect">
            <a:avLst/>
          </a:prstGeom>
          <a:noFill/>
        </p:spPr>
        <p:txBody>
          <a:bodyPr wrap="none">
            <a:spAutoFit/>
          </a:bodyPr>
          <a:lstStyle/>
          <a:p>
            <a:pPr algn="r"/>
            <a:r>
              <a:rPr sz="900">
                <a:solidFill>
                  <a:srgbClr val="697380"/>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Database Design</a:t>
            </a:r>
          </a:p>
        </p:txBody>
      </p:sp>
      <p:sp>
        <p:nvSpPr>
          <p:cNvPr id="5" name="Rounded Rectangle 4"/>
          <p:cNvSpPr/>
          <p:nvPr/>
        </p:nvSpPr>
        <p:spPr>
          <a:xfrm>
            <a:off x="685800" y="1417320"/>
            <a:ext cx="3337560" cy="356616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73152" cy="356616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2926079" cy="365760"/>
          </a:xfrm>
          <a:prstGeom prst="rect">
            <a:avLst/>
          </a:prstGeom>
          <a:noFill/>
        </p:spPr>
        <p:txBody>
          <a:bodyPr wrap="none">
            <a:spAutoFit/>
          </a:bodyPr>
          <a:lstStyle/>
          <a:p>
            <a:r>
              <a:rPr sz="1700" b="1">
                <a:solidFill>
                  <a:srgbClr val="14223A"/>
                </a:solidFill>
              </a:rPr>
              <a:t>Users Collection</a:t>
            </a:r>
          </a:p>
        </p:txBody>
      </p:sp>
      <p:sp>
        <p:nvSpPr>
          <p:cNvPr id="8" name="TextBox 7"/>
          <p:cNvSpPr txBox="1"/>
          <p:nvPr/>
        </p:nvSpPr>
        <p:spPr>
          <a:xfrm>
            <a:off x="914400" y="2039112"/>
            <a:ext cx="2926079" cy="2816352"/>
          </a:xfrm>
          <a:prstGeom prst="rect">
            <a:avLst/>
          </a:prstGeom>
          <a:noFill/>
        </p:spPr>
        <p:txBody>
          <a:bodyPr wrap="square">
            <a:spAutoFit/>
          </a:bodyPr>
          <a:lstStyle/>
          <a:p>
            <a:r>
              <a:rPr sz="1300">
                <a:solidFill>
                  <a:srgbClr val="232830"/>
                </a:solidFill>
              </a:rPr>
              <a:t>userId
name
email
password / auth data
role
contact details</a:t>
            </a:r>
          </a:p>
        </p:txBody>
      </p:sp>
      <p:sp>
        <p:nvSpPr>
          <p:cNvPr id="9" name="Rounded Rectangle 8"/>
          <p:cNvSpPr/>
          <p:nvPr/>
        </p:nvSpPr>
        <p:spPr>
          <a:xfrm>
            <a:off x="4434840" y="1417320"/>
            <a:ext cx="3337560" cy="356616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417320"/>
            <a:ext cx="73152" cy="356616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581912"/>
            <a:ext cx="2926079" cy="365760"/>
          </a:xfrm>
          <a:prstGeom prst="rect">
            <a:avLst/>
          </a:prstGeom>
          <a:noFill/>
        </p:spPr>
        <p:txBody>
          <a:bodyPr wrap="none">
            <a:spAutoFit/>
          </a:bodyPr>
          <a:lstStyle/>
          <a:p>
            <a:r>
              <a:rPr sz="1700" b="1">
                <a:solidFill>
                  <a:srgbClr val="14223A"/>
                </a:solidFill>
              </a:rPr>
              <a:t>Items Collection</a:t>
            </a:r>
          </a:p>
        </p:txBody>
      </p:sp>
      <p:sp>
        <p:nvSpPr>
          <p:cNvPr id="12" name="TextBox 11"/>
          <p:cNvSpPr txBox="1"/>
          <p:nvPr/>
        </p:nvSpPr>
        <p:spPr>
          <a:xfrm>
            <a:off x="4663440" y="2039112"/>
            <a:ext cx="2926079" cy="2816352"/>
          </a:xfrm>
          <a:prstGeom prst="rect">
            <a:avLst/>
          </a:prstGeom>
          <a:noFill/>
        </p:spPr>
        <p:txBody>
          <a:bodyPr wrap="square">
            <a:spAutoFit/>
          </a:bodyPr>
          <a:lstStyle/>
          <a:p>
            <a:r>
              <a:rPr sz="1300">
                <a:solidFill>
                  <a:srgbClr val="232830"/>
                </a:solidFill>
              </a:rPr>
              <a:t>itemId
type: lost / found
name / category
description
date / time
location
image
status
reportedBy</a:t>
            </a:r>
          </a:p>
        </p:txBody>
      </p:sp>
      <p:sp>
        <p:nvSpPr>
          <p:cNvPr id="13" name="Rounded Rectangle 12"/>
          <p:cNvSpPr/>
          <p:nvPr/>
        </p:nvSpPr>
        <p:spPr>
          <a:xfrm>
            <a:off x="8183879" y="1417320"/>
            <a:ext cx="3337560" cy="356616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1417320"/>
            <a:ext cx="73152" cy="356616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581912"/>
            <a:ext cx="2926079" cy="365760"/>
          </a:xfrm>
          <a:prstGeom prst="rect">
            <a:avLst/>
          </a:prstGeom>
          <a:noFill/>
        </p:spPr>
        <p:txBody>
          <a:bodyPr wrap="none">
            <a:spAutoFit/>
          </a:bodyPr>
          <a:lstStyle/>
          <a:p>
            <a:r>
              <a:rPr sz="1700" b="1">
                <a:solidFill>
                  <a:srgbClr val="14223A"/>
                </a:solidFill>
              </a:rPr>
              <a:t>Claims / Notifications</a:t>
            </a:r>
          </a:p>
        </p:txBody>
      </p:sp>
      <p:sp>
        <p:nvSpPr>
          <p:cNvPr id="16" name="TextBox 15"/>
          <p:cNvSpPr txBox="1"/>
          <p:nvPr/>
        </p:nvSpPr>
        <p:spPr>
          <a:xfrm>
            <a:off x="8412480" y="2039112"/>
            <a:ext cx="2926079" cy="2816352"/>
          </a:xfrm>
          <a:prstGeom prst="rect">
            <a:avLst/>
          </a:prstGeom>
          <a:noFill/>
        </p:spPr>
        <p:txBody>
          <a:bodyPr wrap="square">
            <a:spAutoFit/>
          </a:bodyPr>
          <a:lstStyle/>
          <a:p>
            <a:r>
              <a:rPr sz="1300">
                <a:solidFill>
                  <a:srgbClr val="232830"/>
                </a:solidFill>
              </a:rPr>
              <a:t>claimId
itemId
userId
claim status
verification details
notification message
created / updated time</a:t>
            </a:r>
          </a:p>
        </p:txBody>
      </p:sp>
      <p:sp>
        <p:nvSpPr>
          <p:cNvPr id="17" name="Rectangle 16"/>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1360" y="6565392"/>
            <a:ext cx="548640" cy="182880"/>
          </a:xfrm>
          <a:prstGeom prst="rect">
            <a:avLst/>
          </a:prstGeom>
          <a:noFill/>
        </p:spPr>
        <p:txBody>
          <a:bodyPr wrap="none">
            <a:spAutoFit/>
          </a:bodyPr>
          <a:lstStyle/>
          <a:p>
            <a:pPr algn="r"/>
            <a:r>
              <a:rPr sz="900">
                <a:solidFill>
                  <a:srgbClr val="697380"/>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System Workflow</a:t>
            </a:r>
          </a:p>
        </p:txBody>
      </p:sp>
      <p:sp>
        <p:nvSpPr>
          <p:cNvPr id="5" name="Rounded Rectangle 4"/>
          <p:cNvSpPr/>
          <p:nvPr/>
        </p:nvSpPr>
        <p:spPr>
          <a:xfrm>
            <a:off x="594360" y="1463040"/>
            <a:ext cx="2468880" cy="1508760"/>
          </a:xfrm>
          <a:prstGeom prst="roundRect">
            <a:avLst/>
          </a:prstGeom>
          <a:solidFill>
            <a:srgbClr val="E2EFFC"/>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47088"/>
            <a:ext cx="2194560" cy="731520"/>
          </a:xfrm>
          <a:prstGeom prst="rect">
            <a:avLst/>
          </a:prstGeom>
          <a:noFill/>
        </p:spPr>
        <p:txBody>
          <a:bodyPr wrap="none">
            <a:spAutoFit/>
          </a:bodyPr>
          <a:lstStyle/>
          <a:p>
            <a:pPr algn="ctr"/>
            <a:r>
              <a:rPr sz="1500" b="1">
                <a:solidFill>
                  <a:srgbClr val="14223A"/>
                </a:solidFill>
              </a:rPr>
              <a:t>1. Register / Login</a:t>
            </a:r>
          </a:p>
        </p:txBody>
      </p:sp>
      <p:sp>
        <p:nvSpPr>
          <p:cNvPr id="7" name="Rounded Rectangle 6"/>
          <p:cNvSpPr/>
          <p:nvPr/>
        </p:nvSpPr>
        <p:spPr>
          <a:xfrm>
            <a:off x="3429000" y="1463040"/>
            <a:ext cx="2468880" cy="1508760"/>
          </a:xfrm>
          <a:prstGeom prst="roundRect">
            <a:avLst/>
          </a:prstGeom>
          <a:solidFill>
            <a:srgbClr val="F5F7FA"/>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847088"/>
            <a:ext cx="2194560" cy="731520"/>
          </a:xfrm>
          <a:prstGeom prst="rect">
            <a:avLst/>
          </a:prstGeom>
          <a:noFill/>
        </p:spPr>
        <p:txBody>
          <a:bodyPr wrap="none">
            <a:spAutoFit/>
          </a:bodyPr>
          <a:lstStyle/>
          <a:p>
            <a:pPr algn="ctr"/>
            <a:r>
              <a:rPr sz="1500" b="1">
                <a:solidFill>
                  <a:srgbClr val="14223A"/>
                </a:solidFill>
              </a:rPr>
              <a:t>2. Report Lost or Found Item</a:t>
            </a:r>
          </a:p>
        </p:txBody>
      </p:sp>
      <p:sp>
        <p:nvSpPr>
          <p:cNvPr id="9" name="Rounded Rectangle 8"/>
          <p:cNvSpPr/>
          <p:nvPr/>
        </p:nvSpPr>
        <p:spPr>
          <a:xfrm>
            <a:off x="6263640" y="1463040"/>
            <a:ext cx="2468880" cy="1508760"/>
          </a:xfrm>
          <a:prstGeom prst="roundRect">
            <a:avLst/>
          </a:prstGeom>
          <a:solidFill>
            <a:srgbClr val="E2EFFC"/>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47088"/>
            <a:ext cx="2194560" cy="731520"/>
          </a:xfrm>
          <a:prstGeom prst="rect">
            <a:avLst/>
          </a:prstGeom>
          <a:noFill/>
        </p:spPr>
        <p:txBody>
          <a:bodyPr wrap="none">
            <a:spAutoFit/>
          </a:bodyPr>
          <a:lstStyle/>
          <a:p>
            <a:pPr algn="ctr"/>
            <a:r>
              <a:rPr sz="1500" b="1">
                <a:solidFill>
                  <a:srgbClr val="14223A"/>
                </a:solidFill>
              </a:rPr>
              <a:t>3. Store Report in MongoDB</a:t>
            </a:r>
          </a:p>
        </p:txBody>
      </p:sp>
      <p:sp>
        <p:nvSpPr>
          <p:cNvPr id="11" name="Rounded Rectangle 10"/>
          <p:cNvSpPr/>
          <p:nvPr/>
        </p:nvSpPr>
        <p:spPr>
          <a:xfrm>
            <a:off x="9098280" y="1463040"/>
            <a:ext cx="2468880" cy="1508760"/>
          </a:xfrm>
          <a:prstGeom prst="roundRect">
            <a:avLst/>
          </a:prstGeom>
          <a:solidFill>
            <a:srgbClr val="F5F7FA"/>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847088"/>
            <a:ext cx="2194560" cy="731520"/>
          </a:xfrm>
          <a:prstGeom prst="rect">
            <a:avLst/>
          </a:prstGeom>
          <a:noFill/>
        </p:spPr>
        <p:txBody>
          <a:bodyPr wrap="none">
            <a:spAutoFit/>
          </a:bodyPr>
          <a:lstStyle/>
          <a:p>
            <a:pPr algn="ctr"/>
            <a:r>
              <a:rPr sz="1500" b="1">
                <a:solidFill>
                  <a:srgbClr val="14223A"/>
                </a:solidFill>
              </a:rPr>
              <a:t>4. Search / Match Similar Reports</a:t>
            </a:r>
          </a:p>
        </p:txBody>
      </p:sp>
      <p:sp>
        <p:nvSpPr>
          <p:cNvPr id="13" name="Rounded Rectangle 12"/>
          <p:cNvSpPr/>
          <p:nvPr/>
        </p:nvSpPr>
        <p:spPr>
          <a:xfrm>
            <a:off x="594360" y="3657600"/>
            <a:ext cx="2468880" cy="1508760"/>
          </a:xfrm>
          <a:prstGeom prst="roundRect">
            <a:avLst/>
          </a:prstGeom>
          <a:solidFill>
            <a:srgbClr val="E2EFFC"/>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41648"/>
            <a:ext cx="2194560" cy="731520"/>
          </a:xfrm>
          <a:prstGeom prst="rect">
            <a:avLst/>
          </a:prstGeom>
          <a:noFill/>
        </p:spPr>
        <p:txBody>
          <a:bodyPr wrap="none">
            <a:spAutoFit/>
          </a:bodyPr>
          <a:lstStyle/>
          <a:p>
            <a:pPr algn="ctr"/>
            <a:r>
              <a:rPr sz="1500" b="1">
                <a:solidFill>
                  <a:srgbClr val="14223A"/>
                </a:solidFill>
              </a:rPr>
              <a:t>5. Submit Claim</a:t>
            </a:r>
          </a:p>
        </p:txBody>
      </p:sp>
      <p:sp>
        <p:nvSpPr>
          <p:cNvPr id="15" name="Rounded Rectangle 14"/>
          <p:cNvSpPr/>
          <p:nvPr/>
        </p:nvSpPr>
        <p:spPr>
          <a:xfrm>
            <a:off x="3429000" y="3657600"/>
            <a:ext cx="2468880" cy="1508760"/>
          </a:xfrm>
          <a:prstGeom prst="roundRect">
            <a:avLst/>
          </a:prstGeom>
          <a:solidFill>
            <a:srgbClr val="F5F7FA"/>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4041648"/>
            <a:ext cx="2194560" cy="731520"/>
          </a:xfrm>
          <a:prstGeom prst="rect">
            <a:avLst/>
          </a:prstGeom>
          <a:noFill/>
        </p:spPr>
        <p:txBody>
          <a:bodyPr wrap="none">
            <a:spAutoFit/>
          </a:bodyPr>
          <a:lstStyle/>
          <a:p>
            <a:pPr algn="ctr"/>
            <a:r>
              <a:rPr sz="1500" b="1">
                <a:solidFill>
                  <a:srgbClr val="14223A"/>
                </a:solidFill>
              </a:rPr>
              <a:t>6. Admin Verifies</a:t>
            </a:r>
          </a:p>
        </p:txBody>
      </p:sp>
      <p:sp>
        <p:nvSpPr>
          <p:cNvPr id="17" name="Rounded Rectangle 16"/>
          <p:cNvSpPr/>
          <p:nvPr/>
        </p:nvSpPr>
        <p:spPr>
          <a:xfrm>
            <a:off x="6263640" y="3657600"/>
            <a:ext cx="2468880" cy="1508760"/>
          </a:xfrm>
          <a:prstGeom prst="roundRect">
            <a:avLst/>
          </a:prstGeom>
          <a:solidFill>
            <a:srgbClr val="E2EFFC"/>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41648"/>
            <a:ext cx="2194560" cy="731520"/>
          </a:xfrm>
          <a:prstGeom prst="rect">
            <a:avLst/>
          </a:prstGeom>
          <a:noFill/>
        </p:spPr>
        <p:txBody>
          <a:bodyPr wrap="none">
            <a:spAutoFit/>
          </a:bodyPr>
          <a:lstStyle/>
          <a:p>
            <a:pPr algn="ctr"/>
            <a:r>
              <a:rPr sz="1500" b="1">
                <a:solidFill>
                  <a:srgbClr val="14223A"/>
                </a:solidFill>
              </a:rPr>
              <a:t>7. Update Status &amp; Notify User</a:t>
            </a:r>
          </a:p>
        </p:txBody>
      </p:sp>
      <p:sp>
        <p:nvSpPr>
          <p:cNvPr id="19" name="Rounded Rectangle 18"/>
          <p:cNvSpPr/>
          <p:nvPr/>
        </p:nvSpPr>
        <p:spPr>
          <a:xfrm>
            <a:off x="9098280" y="3657600"/>
            <a:ext cx="2468880" cy="1508760"/>
          </a:xfrm>
          <a:prstGeom prst="roundRect">
            <a:avLst/>
          </a:prstGeom>
          <a:solidFill>
            <a:srgbClr val="F5F7FA"/>
          </a:solidFill>
          <a:ln>
            <a:solidFill>
              <a:srgbClr val="2B68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4041648"/>
            <a:ext cx="2194560" cy="731520"/>
          </a:xfrm>
          <a:prstGeom prst="rect">
            <a:avLst/>
          </a:prstGeom>
          <a:noFill/>
        </p:spPr>
        <p:txBody>
          <a:bodyPr wrap="none">
            <a:spAutoFit/>
          </a:bodyPr>
          <a:lstStyle/>
          <a:p>
            <a:pPr algn="ctr"/>
            <a:r>
              <a:rPr sz="1500" b="1">
                <a:solidFill>
                  <a:srgbClr val="14223A"/>
                </a:solidFill>
              </a:rPr>
              <a:t>8. Item Returned / Case Closed</a:t>
            </a:r>
          </a:p>
        </p:txBody>
      </p:sp>
      <p:sp>
        <p:nvSpPr>
          <p:cNvPr id="21" name="Rectangle 20"/>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81360" y="6565392"/>
            <a:ext cx="548640" cy="182880"/>
          </a:xfrm>
          <a:prstGeom prst="rect">
            <a:avLst/>
          </a:prstGeom>
          <a:noFill/>
        </p:spPr>
        <p:txBody>
          <a:bodyPr wrap="none">
            <a:spAutoFit/>
          </a:bodyPr>
          <a:lstStyle/>
          <a:p>
            <a:pPr algn="r"/>
            <a:r>
              <a:rPr sz="900">
                <a:solidFill>
                  <a:srgbClr val="697380"/>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Backend &amp; API Layer</a:t>
            </a:r>
          </a:p>
        </p:txBody>
      </p:sp>
      <p:sp>
        <p:nvSpPr>
          <p:cNvPr id="5" name="TextBox 4"/>
          <p:cNvSpPr txBox="1"/>
          <p:nvPr/>
        </p:nvSpPr>
        <p:spPr>
          <a:xfrm>
            <a:off x="731520" y="1417320"/>
            <a:ext cx="10698480" cy="4663440"/>
          </a:xfrm>
          <a:prstGeom prst="rect">
            <a:avLst/>
          </a:prstGeom>
          <a:noFill/>
        </p:spPr>
        <p:txBody>
          <a:bodyPr wrap="square">
            <a:spAutoFit/>
          </a:bodyPr>
          <a:lstStyle/>
          <a:p>
            <a:pPr>
              <a:spcAft>
                <a:spcPts val="1200"/>
              </a:spcAft>
              <a:defRPr sz="2000" b="0">
                <a:solidFill>
                  <a:srgbClr val="232830"/>
                </a:solidFill>
              </a:defRPr>
            </a:pPr>
            <a:r>
              <a:t>Express.js handles HTTP requests and routes them to application logic.</a:t>
            </a:r>
          </a:p>
          <a:p>
            <a:pPr>
              <a:spcAft>
                <a:spcPts val="1200"/>
              </a:spcAft>
              <a:defRPr sz="2000" b="0">
                <a:solidFill>
                  <a:srgbClr val="232830"/>
                </a:solidFill>
              </a:defRPr>
            </a:pPr>
            <a:r>
              <a:t>MongoDB is accessed through the Node.js backend for creating, reading, updating, and deleting records.</a:t>
            </a:r>
          </a:p>
          <a:p>
            <a:pPr>
              <a:spcAft>
                <a:spcPts val="1200"/>
              </a:spcAft>
              <a:defRPr sz="2000" b="0">
                <a:solidFill>
                  <a:srgbClr val="232830"/>
                </a:solidFill>
              </a:defRPr>
            </a:pPr>
            <a:r>
              <a:t>Example endpoint: GET /api/items — retrieves item reports sorted by date.</a:t>
            </a:r>
          </a:p>
          <a:p>
            <a:pPr>
              <a:spcAft>
                <a:spcPts val="1200"/>
              </a:spcAft>
              <a:defRPr sz="2000" b="0">
                <a:solidFill>
                  <a:srgbClr val="232830"/>
                </a:solidFill>
              </a:defRPr>
            </a:pPr>
            <a:r>
              <a:t>Other API operations can support user authentication, item creation, updates, claims, and notifications.</a:t>
            </a:r>
          </a:p>
          <a:p>
            <a:pPr>
              <a:spcAft>
                <a:spcPts val="1200"/>
              </a:spcAft>
              <a:defRPr sz="2000" b="0">
                <a:solidFill>
                  <a:srgbClr val="232830"/>
                </a:solidFill>
              </a:defRPr>
            </a:pPr>
            <a:r>
              <a:t>Environment variables (.env) keep configuration such as the MongoDB connection string outside source code.</a:t>
            </a:r>
          </a:p>
          <a:p>
            <a:pPr>
              <a:spcAft>
                <a:spcPts val="1200"/>
              </a:spcAft>
              <a:defRPr sz="2000" b="0">
                <a:solidFill>
                  <a:srgbClr val="232830"/>
                </a:solidFill>
              </a:defRPr>
            </a:pPr>
            <a:r>
              <a:t>The backend can run locally during development and be deployed to a suitable hosting platform.</a:t>
            </a:r>
          </a:p>
        </p:txBody>
      </p:sp>
      <p:sp>
        <p:nvSpPr>
          <p:cNvPr id="6" name="Rectangle 5"/>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565392"/>
            <a:ext cx="548640" cy="182880"/>
          </a:xfrm>
          <a:prstGeom prst="rect">
            <a:avLst/>
          </a:prstGeom>
          <a:noFill/>
        </p:spPr>
        <p:txBody>
          <a:bodyPr wrap="none">
            <a:spAutoFit/>
          </a:bodyPr>
          <a:lstStyle/>
          <a:p>
            <a:pPr algn="r"/>
            <a:r>
              <a:rPr sz="900">
                <a:solidFill>
                  <a:srgbClr val="697380"/>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Expected Output</a:t>
            </a:r>
          </a:p>
        </p:txBody>
      </p:sp>
      <p:sp>
        <p:nvSpPr>
          <p:cNvPr id="5" name="Rounded Rectangle 4"/>
          <p:cNvSpPr/>
          <p:nvPr/>
        </p:nvSpPr>
        <p:spPr>
          <a:xfrm>
            <a:off x="685800" y="141732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73152" cy="18288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4754880" cy="365760"/>
          </a:xfrm>
          <a:prstGeom prst="rect">
            <a:avLst/>
          </a:prstGeom>
          <a:noFill/>
        </p:spPr>
        <p:txBody>
          <a:bodyPr wrap="none">
            <a:spAutoFit/>
          </a:bodyPr>
          <a:lstStyle/>
          <a:p>
            <a:r>
              <a:rPr sz="1700" b="1">
                <a:solidFill>
                  <a:srgbClr val="14223A"/>
                </a:solidFill>
              </a:rPr>
              <a:t>Dashboard</a:t>
            </a:r>
          </a:p>
        </p:txBody>
      </p:sp>
      <p:sp>
        <p:nvSpPr>
          <p:cNvPr id="8" name="TextBox 7"/>
          <p:cNvSpPr txBox="1"/>
          <p:nvPr/>
        </p:nvSpPr>
        <p:spPr>
          <a:xfrm>
            <a:off x="914400" y="2039112"/>
            <a:ext cx="4754880" cy="1078992"/>
          </a:xfrm>
          <a:prstGeom prst="rect">
            <a:avLst/>
          </a:prstGeom>
          <a:noFill/>
        </p:spPr>
        <p:txBody>
          <a:bodyPr wrap="square">
            <a:spAutoFit/>
          </a:bodyPr>
          <a:lstStyle/>
          <a:p>
            <a:r>
              <a:rPr sz="1300">
                <a:solidFill>
                  <a:srgbClr val="232830"/>
                </a:solidFill>
              </a:rPr>
              <a:t>Users see recent lost/found reports and useful filters.</a:t>
            </a:r>
          </a:p>
        </p:txBody>
      </p:sp>
      <p:sp>
        <p:nvSpPr>
          <p:cNvPr id="9" name="Rounded Rectangle 8"/>
          <p:cNvSpPr/>
          <p:nvPr/>
        </p:nvSpPr>
        <p:spPr>
          <a:xfrm>
            <a:off x="6217920" y="141732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417320"/>
            <a:ext cx="73152" cy="182880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81912"/>
            <a:ext cx="4754880" cy="365760"/>
          </a:xfrm>
          <a:prstGeom prst="rect">
            <a:avLst/>
          </a:prstGeom>
          <a:noFill/>
        </p:spPr>
        <p:txBody>
          <a:bodyPr wrap="none">
            <a:spAutoFit/>
          </a:bodyPr>
          <a:lstStyle/>
          <a:p>
            <a:r>
              <a:rPr sz="1700" b="1">
                <a:solidFill>
                  <a:srgbClr val="14223A"/>
                </a:solidFill>
              </a:rPr>
              <a:t>Item Report Form</a:t>
            </a:r>
          </a:p>
        </p:txBody>
      </p:sp>
      <p:sp>
        <p:nvSpPr>
          <p:cNvPr id="12" name="TextBox 11"/>
          <p:cNvSpPr txBox="1"/>
          <p:nvPr/>
        </p:nvSpPr>
        <p:spPr>
          <a:xfrm>
            <a:off x="6446520" y="2039112"/>
            <a:ext cx="4754880" cy="1078992"/>
          </a:xfrm>
          <a:prstGeom prst="rect">
            <a:avLst/>
          </a:prstGeom>
          <a:noFill/>
        </p:spPr>
        <p:txBody>
          <a:bodyPr wrap="square">
            <a:spAutoFit/>
          </a:bodyPr>
          <a:lstStyle/>
          <a:p>
            <a:r>
              <a:rPr sz="1300">
                <a:solidFill>
                  <a:srgbClr val="232830"/>
                </a:solidFill>
              </a:rPr>
              <a:t>A structured form captures all important item details.</a:t>
            </a:r>
          </a:p>
        </p:txBody>
      </p:sp>
      <p:sp>
        <p:nvSpPr>
          <p:cNvPr id="13" name="Rounded Rectangle 12"/>
          <p:cNvSpPr/>
          <p:nvPr/>
        </p:nvSpPr>
        <p:spPr>
          <a:xfrm>
            <a:off x="685800" y="365760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657600"/>
            <a:ext cx="73152" cy="182880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22191"/>
            <a:ext cx="4754880" cy="365760"/>
          </a:xfrm>
          <a:prstGeom prst="rect">
            <a:avLst/>
          </a:prstGeom>
          <a:noFill/>
        </p:spPr>
        <p:txBody>
          <a:bodyPr wrap="none">
            <a:spAutoFit/>
          </a:bodyPr>
          <a:lstStyle/>
          <a:p>
            <a:r>
              <a:rPr sz="1700" b="1">
                <a:solidFill>
                  <a:srgbClr val="14223A"/>
                </a:solidFill>
              </a:rPr>
              <a:t>Search Results</a:t>
            </a:r>
          </a:p>
        </p:txBody>
      </p:sp>
      <p:sp>
        <p:nvSpPr>
          <p:cNvPr id="16" name="TextBox 15"/>
          <p:cNvSpPr txBox="1"/>
          <p:nvPr/>
        </p:nvSpPr>
        <p:spPr>
          <a:xfrm>
            <a:off x="914400" y="4279392"/>
            <a:ext cx="4754880" cy="1078992"/>
          </a:xfrm>
          <a:prstGeom prst="rect">
            <a:avLst/>
          </a:prstGeom>
          <a:noFill/>
        </p:spPr>
        <p:txBody>
          <a:bodyPr wrap="square">
            <a:spAutoFit/>
          </a:bodyPr>
          <a:lstStyle/>
          <a:p>
            <a:r>
              <a:rPr sz="1300">
                <a:solidFill>
                  <a:srgbClr val="232830"/>
                </a:solidFill>
              </a:rPr>
              <a:t>Relevant items are displayed based on filters and matches.</a:t>
            </a:r>
          </a:p>
        </p:txBody>
      </p:sp>
      <p:sp>
        <p:nvSpPr>
          <p:cNvPr id="17" name="Rounded Rectangle 16"/>
          <p:cNvSpPr/>
          <p:nvPr/>
        </p:nvSpPr>
        <p:spPr>
          <a:xfrm>
            <a:off x="6217920" y="3657600"/>
            <a:ext cx="5166360" cy="182880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657600"/>
            <a:ext cx="73152" cy="182880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22191"/>
            <a:ext cx="4754880" cy="365760"/>
          </a:xfrm>
          <a:prstGeom prst="rect">
            <a:avLst/>
          </a:prstGeom>
          <a:noFill/>
        </p:spPr>
        <p:txBody>
          <a:bodyPr wrap="none">
            <a:spAutoFit/>
          </a:bodyPr>
          <a:lstStyle/>
          <a:p>
            <a:r>
              <a:rPr sz="1700" b="1">
                <a:solidFill>
                  <a:srgbClr val="14223A"/>
                </a:solidFill>
              </a:rPr>
              <a:t>Claim &amp; Status</a:t>
            </a:r>
          </a:p>
        </p:txBody>
      </p:sp>
      <p:sp>
        <p:nvSpPr>
          <p:cNvPr id="20" name="TextBox 19"/>
          <p:cNvSpPr txBox="1"/>
          <p:nvPr/>
        </p:nvSpPr>
        <p:spPr>
          <a:xfrm>
            <a:off x="6446520" y="4279392"/>
            <a:ext cx="4754880" cy="1078992"/>
          </a:xfrm>
          <a:prstGeom prst="rect">
            <a:avLst/>
          </a:prstGeom>
          <a:noFill/>
        </p:spPr>
        <p:txBody>
          <a:bodyPr wrap="square">
            <a:spAutoFit/>
          </a:bodyPr>
          <a:lstStyle/>
          <a:p>
            <a:r>
              <a:rPr sz="1300">
                <a:solidFill>
                  <a:srgbClr val="232830"/>
                </a:solidFill>
              </a:rPr>
              <a:t>Users can follow claim progress and final item status.</a:t>
            </a:r>
          </a:p>
        </p:txBody>
      </p:sp>
      <p:sp>
        <p:nvSpPr>
          <p:cNvPr id="21" name="Rectangle 20"/>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81360" y="6565392"/>
            <a:ext cx="548640" cy="182880"/>
          </a:xfrm>
          <a:prstGeom prst="rect">
            <a:avLst/>
          </a:prstGeom>
          <a:noFill/>
        </p:spPr>
        <p:txBody>
          <a:bodyPr wrap="none">
            <a:spAutoFit/>
          </a:bodyPr>
          <a:lstStyle/>
          <a:p>
            <a:pPr algn="r"/>
            <a:r>
              <a:rPr sz="900">
                <a:solidFill>
                  <a:srgbClr val="697380"/>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Benefits</a:t>
            </a:r>
          </a:p>
        </p:txBody>
      </p:sp>
      <p:sp>
        <p:nvSpPr>
          <p:cNvPr id="5" name="TextBox 4"/>
          <p:cNvSpPr txBox="1"/>
          <p:nvPr/>
        </p:nvSpPr>
        <p:spPr>
          <a:xfrm>
            <a:off x="731520" y="1417320"/>
            <a:ext cx="10698480" cy="4663440"/>
          </a:xfrm>
          <a:prstGeom prst="rect">
            <a:avLst/>
          </a:prstGeom>
          <a:noFill/>
        </p:spPr>
        <p:txBody>
          <a:bodyPr wrap="square">
            <a:spAutoFit/>
          </a:bodyPr>
          <a:lstStyle/>
          <a:p>
            <a:pPr>
              <a:spcAft>
                <a:spcPts val="1200"/>
              </a:spcAft>
              <a:defRPr sz="2000" b="0">
                <a:solidFill>
                  <a:srgbClr val="232830"/>
                </a:solidFill>
              </a:defRPr>
            </a:pPr>
            <a:r>
              <a:t>Reduces dependence on scattered communication channels.</a:t>
            </a:r>
          </a:p>
          <a:p>
            <a:pPr>
              <a:spcAft>
                <a:spcPts val="1200"/>
              </a:spcAft>
              <a:defRPr sz="2000" b="0">
                <a:solidFill>
                  <a:srgbClr val="232830"/>
                </a:solidFill>
              </a:defRPr>
            </a:pPr>
            <a:r>
              <a:t>Makes lost and found records searchable and easier to manage.</a:t>
            </a:r>
          </a:p>
          <a:p>
            <a:pPr>
              <a:spcAft>
                <a:spcPts val="1200"/>
              </a:spcAft>
              <a:defRPr sz="2000" b="0">
                <a:solidFill>
                  <a:srgbClr val="232830"/>
                </a:solidFill>
              </a:defRPr>
            </a:pPr>
            <a:r>
              <a:t>Improves the chance of identifying related lost/found reports.</a:t>
            </a:r>
          </a:p>
          <a:p>
            <a:pPr>
              <a:spcAft>
                <a:spcPts val="1200"/>
              </a:spcAft>
              <a:defRPr sz="2000" b="0">
                <a:solidFill>
                  <a:srgbClr val="232830"/>
                </a:solidFill>
              </a:defRPr>
            </a:pPr>
            <a:r>
              <a:t>Provides transparency through item status and claim tracking.</a:t>
            </a:r>
          </a:p>
          <a:p>
            <a:pPr>
              <a:spcAft>
                <a:spcPts val="1200"/>
              </a:spcAft>
              <a:defRPr sz="2000" b="0">
                <a:solidFill>
                  <a:srgbClr val="232830"/>
                </a:solidFill>
              </a:defRPr>
            </a:pPr>
            <a:r>
              <a:t>Gives administrators a centralized way to monitor campus cases.</a:t>
            </a:r>
          </a:p>
          <a:p>
            <a:pPr>
              <a:spcAft>
                <a:spcPts val="1200"/>
              </a:spcAft>
              <a:defRPr sz="2000" b="0">
                <a:solidFill>
                  <a:srgbClr val="232830"/>
                </a:solidFill>
              </a:defRPr>
            </a:pPr>
            <a:r>
              <a:t>Can be extended with image-based similarity, email/push notifications, and analytics.</a:t>
            </a:r>
          </a:p>
        </p:txBody>
      </p:sp>
      <p:sp>
        <p:nvSpPr>
          <p:cNvPr id="6" name="Rectangle 5"/>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565392"/>
            <a:ext cx="548640" cy="182880"/>
          </a:xfrm>
          <a:prstGeom prst="rect">
            <a:avLst/>
          </a:prstGeom>
          <a:noFill/>
        </p:spPr>
        <p:txBody>
          <a:bodyPr wrap="none">
            <a:spAutoFit/>
          </a:bodyPr>
          <a:lstStyle/>
          <a:p>
            <a:pPr algn="r"/>
            <a:r>
              <a:rPr sz="900">
                <a:solidFill>
                  <a:srgbClr val="697380"/>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640080"/>
          </a:xfrm>
          <a:prstGeom prst="rect">
            <a:avLst/>
          </a:prstGeom>
          <a:noFill/>
        </p:spPr>
        <p:txBody>
          <a:bodyPr wrap="none">
            <a:spAutoFit/>
          </a:bodyPr>
          <a:lstStyle/>
          <a:p>
            <a:r>
              <a:rPr sz="2800" b="1">
                <a:solidFill>
                  <a:srgbClr val="14223A"/>
                </a:solidFill>
              </a:rPr>
              <a:t>Future Enhancements</a:t>
            </a:r>
          </a:p>
        </p:txBody>
      </p:sp>
      <p:sp>
        <p:nvSpPr>
          <p:cNvPr id="5" name="Rounded Rectangle 4"/>
          <p:cNvSpPr/>
          <p:nvPr/>
        </p:nvSpPr>
        <p:spPr>
          <a:xfrm>
            <a:off x="594360" y="137160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71600"/>
            <a:ext cx="73152" cy="19202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3017520" cy="365760"/>
          </a:xfrm>
          <a:prstGeom prst="rect">
            <a:avLst/>
          </a:prstGeom>
          <a:noFill/>
        </p:spPr>
        <p:txBody>
          <a:bodyPr wrap="none">
            <a:spAutoFit/>
          </a:bodyPr>
          <a:lstStyle/>
          <a:p>
            <a:r>
              <a:rPr sz="1700" b="1">
                <a:solidFill>
                  <a:srgbClr val="14223A"/>
                </a:solidFill>
              </a:rPr>
              <a:t>AI Image Matching</a:t>
            </a:r>
          </a:p>
        </p:txBody>
      </p:sp>
      <p:sp>
        <p:nvSpPr>
          <p:cNvPr id="8" name="TextBox 7"/>
          <p:cNvSpPr txBox="1"/>
          <p:nvPr/>
        </p:nvSpPr>
        <p:spPr>
          <a:xfrm>
            <a:off x="822960" y="1993392"/>
            <a:ext cx="3017520" cy="1170432"/>
          </a:xfrm>
          <a:prstGeom prst="rect">
            <a:avLst/>
          </a:prstGeom>
          <a:noFill/>
        </p:spPr>
        <p:txBody>
          <a:bodyPr wrap="square">
            <a:spAutoFit/>
          </a:bodyPr>
          <a:lstStyle/>
          <a:p>
            <a:r>
              <a:rPr sz="1300">
                <a:solidFill>
                  <a:srgbClr val="232830"/>
                </a:solidFill>
              </a:rPr>
              <a:t>Compare uploaded item photos to improve matching.</a:t>
            </a:r>
          </a:p>
        </p:txBody>
      </p:sp>
      <p:sp>
        <p:nvSpPr>
          <p:cNvPr id="9" name="Rounded Rectangle 8"/>
          <p:cNvSpPr/>
          <p:nvPr/>
        </p:nvSpPr>
        <p:spPr>
          <a:xfrm>
            <a:off x="4389120" y="137160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73152" cy="192024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536192"/>
            <a:ext cx="3017520" cy="365760"/>
          </a:xfrm>
          <a:prstGeom prst="rect">
            <a:avLst/>
          </a:prstGeom>
          <a:noFill/>
        </p:spPr>
        <p:txBody>
          <a:bodyPr wrap="none">
            <a:spAutoFit/>
          </a:bodyPr>
          <a:lstStyle/>
          <a:p>
            <a:r>
              <a:rPr sz="1700" b="1">
                <a:solidFill>
                  <a:srgbClr val="14223A"/>
                </a:solidFill>
              </a:rPr>
              <a:t>Smart Search</a:t>
            </a:r>
          </a:p>
        </p:txBody>
      </p:sp>
      <p:sp>
        <p:nvSpPr>
          <p:cNvPr id="12" name="TextBox 11"/>
          <p:cNvSpPr txBox="1"/>
          <p:nvPr/>
        </p:nvSpPr>
        <p:spPr>
          <a:xfrm>
            <a:off x="4617720" y="1993392"/>
            <a:ext cx="3017520" cy="1170432"/>
          </a:xfrm>
          <a:prstGeom prst="rect">
            <a:avLst/>
          </a:prstGeom>
          <a:noFill/>
        </p:spPr>
        <p:txBody>
          <a:bodyPr wrap="square">
            <a:spAutoFit/>
          </a:bodyPr>
          <a:lstStyle/>
          <a:p>
            <a:r>
              <a:rPr sz="1300">
                <a:solidFill>
                  <a:srgbClr val="232830"/>
                </a:solidFill>
              </a:rPr>
              <a:t>Use NLP/semantic similarity for descriptions.</a:t>
            </a:r>
          </a:p>
        </p:txBody>
      </p:sp>
      <p:sp>
        <p:nvSpPr>
          <p:cNvPr id="13" name="Rounded Rectangle 12"/>
          <p:cNvSpPr/>
          <p:nvPr/>
        </p:nvSpPr>
        <p:spPr>
          <a:xfrm>
            <a:off x="8183880" y="137160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80" y="1371600"/>
            <a:ext cx="73152" cy="192024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536192"/>
            <a:ext cx="3017520" cy="365760"/>
          </a:xfrm>
          <a:prstGeom prst="rect">
            <a:avLst/>
          </a:prstGeom>
          <a:noFill/>
        </p:spPr>
        <p:txBody>
          <a:bodyPr wrap="none">
            <a:spAutoFit/>
          </a:bodyPr>
          <a:lstStyle/>
          <a:p>
            <a:r>
              <a:rPr sz="1700" b="1">
                <a:solidFill>
                  <a:srgbClr val="14223A"/>
                </a:solidFill>
              </a:rPr>
              <a:t>Mobile App</a:t>
            </a:r>
          </a:p>
        </p:txBody>
      </p:sp>
      <p:sp>
        <p:nvSpPr>
          <p:cNvPr id="16" name="TextBox 15"/>
          <p:cNvSpPr txBox="1"/>
          <p:nvPr/>
        </p:nvSpPr>
        <p:spPr>
          <a:xfrm>
            <a:off x="8412480" y="1993392"/>
            <a:ext cx="3017520" cy="1170432"/>
          </a:xfrm>
          <a:prstGeom prst="rect">
            <a:avLst/>
          </a:prstGeom>
          <a:noFill/>
        </p:spPr>
        <p:txBody>
          <a:bodyPr wrap="square">
            <a:spAutoFit/>
          </a:bodyPr>
          <a:lstStyle/>
          <a:p>
            <a:r>
              <a:rPr sz="1300">
                <a:solidFill>
                  <a:srgbClr val="232830"/>
                </a:solidFill>
              </a:rPr>
              <a:t>Android/iOS client connected to the same APIs.</a:t>
            </a:r>
          </a:p>
        </p:txBody>
      </p:sp>
      <p:sp>
        <p:nvSpPr>
          <p:cNvPr id="17" name="Rounded Rectangle 16"/>
          <p:cNvSpPr/>
          <p:nvPr/>
        </p:nvSpPr>
        <p:spPr>
          <a:xfrm>
            <a:off x="594360" y="379476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794760"/>
            <a:ext cx="73152" cy="1920240"/>
          </a:xfrm>
          <a:prstGeom prst="rect">
            <a:avLst/>
          </a:prstGeom>
          <a:solidFill>
            <a:srgbClr val="2B6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59352"/>
            <a:ext cx="3017520" cy="365760"/>
          </a:xfrm>
          <a:prstGeom prst="rect">
            <a:avLst/>
          </a:prstGeom>
          <a:noFill/>
        </p:spPr>
        <p:txBody>
          <a:bodyPr wrap="none">
            <a:spAutoFit/>
          </a:bodyPr>
          <a:lstStyle/>
          <a:p>
            <a:r>
              <a:rPr sz="1700" b="1">
                <a:solidFill>
                  <a:srgbClr val="14223A"/>
                </a:solidFill>
              </a:rPr>
              <a:t>Push Notifications</a:t>
            </a:r>
          </a:p>
        </p:txBody>
      </p:sp>
      <p:sp>
        <p:nvSpPr>
          <p:cNvPr id="20" name="TextBox 19"/>
          <p:cNvSpPr txBox="1"/>
          <p:nvPr/>
        </p:nvSpPr>
        <p:spPr>
          <a:xfrm>
            <a:off x="822960" y="4416552"/>
            <a:ext cx="3017520" cy="1170432"/>
          </a:xfrm>
          <a:prstGeom prst="rect">
            <a:avLst/>
          </a:prstGeom>
          <a:noFill/>
        </p:spPr>
        <p:txBody>
          <a:bodyPr wrap="square">
            <a:spAutoFit/>
          </a:bodyPr>
          <a:lstStyle/>
          <a:p>
            <a:r>
              <a:rPr sz="1300">
                <a:solidFill>
                  <a:srgbClr val="232830"/>
                </a:solidFill>
              </a:rPr>
              <a:t>Real-time alerts for potential matches and claims.</a:t>
            </a:r>
          </a:p>
        </p:txBody>
      </p:sp>
      <p:sp>
        <p:nvSpPr>
          <p:cNvPr id="21" name="Rounded Rectangle 20"/>
          <p:cNvSpPr/>
          <p:nvPr/>
        </p:nvSpPr>
        <p:spPr>
          <a:xfrm>
            <a:off x="4389120" y="379476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794760"/>
            <a:ext cx="73152" cy="1920240"/>
          </a:xfrm>
          <a:prstGeom prst="rect">
            <a:avLst/>
          </a:prstGeom>
          <a:solidFill>
            <a:srgbClr val="318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3959352"/>
            <a:ext cx="3017520" cy="365760"/>
          </a:xfrm>
          <a:prstGeom prst="rect">
            <a:avLst/>
          </a:prstGeom>
          <a:noFill/>
        </p:spPr>
        <p:txBody>
          <a:bodyPr wrap="none">
            <a:spAutoFit/>
          </a:bodyPr>
          <a:lstStyle/>
          <a:p>
            <a:r>
              <a:rPr sz="1700" b="1">
                <a:solidFill>
                  <a:srgbClr val="14223A"/>
                </a:solidFill>
              </a:rPr>
              <a:t>Analytics</a:t>
            </a:r>
          </a:p>
        </p:txBody>
      </p:sp>
      <p:sp>
        <p:nvSpPr>
          <p:cNvPr id="24" name="TextBox 23"/>
          <p:cNvSpPr txBox="1"/>
          <p:nvPr/>
        </p:nvSpPr>
        <p:spPr>
          <a:xfrm>
            <a:off x="4617720" y="4416552"/>
            <a:ext cx="3017520" cy="1170432"/>
          </a:xfrm>
          <a:prstGeom prst="rect">
            <a:avLst/>
          </a:prstGeom>
          <a:noFill/>
        </p:spPr>
        <p:txBody>
          <a:bodyPr wrap="square">
            <a:spAutoFit/>
          </a:bodyPr>
          <a:lstStyle/>
          <a:p>
            <a:r>
              <a:rPr sz="1300">
                <a:solidFill>
                  <a:srgbClr val="232830"/>
                </a:solidFill>
              </a:rPr>
              <a:t>Dashboards for frequently lost locations/categories.</a:t>
            </a:r>
          </a:p>
        </p:txBody>
      </p:sp>
      <p:sp>
        <p:nvSpPr>
          <p:cNvPr id="25" name="Rounded Rectangle 24"/>
          <p:cNvSpPr/>
          <p:nvPr/>
        </p:nvSpPr>
        <p:spPr>
          <a:xfrm>
            <a:off x="8183880" y="3794760"/>
            <a:ext cx="3429000" cy="1920240"/>
          </a:xfrm>
          <a:prstGeom prst="roundRect">
            <a:avLst/>
          </a:prstGeom>
          <a:solidFill>
            <a:srgbClr val="F5F7FA"/>
          </a:solidFill>
          <a:ln>
            <a:solidFill>
              <a:srgbClr val="E0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80" y="3794760"/>
            <a:ext cx="73152" cy="1920240"/>
          </a:xfrm>
          <a:prstGeom prst="rect">
            <a:avLst/>
          </a:prstGeom>
          <a:solidFill>
            <a:srgbClr val="E08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3959352"/>
            <a:ext cx="3017520" cy="365760"/>
          </a:xfrm>
          <a:prstGeom prst="rect">
            <a:avLst/>
          </a:prstGeom>
          <a:noFill/>
        </p:spPr>
        <p:txBody>
          <a:bodyPr wrap="none">
            <a:spAutoFit/>
          </a:bodyPr>
          <a:lstStyle/>
          <a:p>
            <a:r>
              <a:rPr sz="1700" b="1">
                <a:solidFill>
                  <a:srgbClr val="14223A"/>
                </a:solidFill>
              </a:rPr>
              <a:t>Role-Based Security</a:t>
            </a:r>
          </a:p>
        </p:txBody>
      </p:sp>
      <p:sp>
        <p:nvSpPr>
          <p:cNvPr id="28" name="TextBox 27"/>
          <p:cNvSpPr txBox="1"/>
          <p:nvPr/>
        </p:nvSpPr>
        <p:spPr>
          <a:xfrm>
            <a:off x="8412480" y="4416552"/>
            <a:ext cx="3017520" cy="1170432"/>
          </a:xfrm>
          <a:prstGeom prst="rect">
            <a:avLst/>
          </a:prstGeom>
          <a:noFill/>
        </p:spPr>
        <p:txBody>
          <a:bodyPr wrap="square">
            <a:spAutoFit/>
          </a:bodyPr>
          <a:lstStyle/>
          <a:p>
            <a:r>
              <a:rPr sz="1300">
                <a:solidFill>
                  <a:srgbClr val="232830"/>
                </a:solidFill>
              </a:rPr>
              <a:t>More granular permissions for students and admins.</a:t>
            </a:r>
          </a:p>
        </p:txBody>
      </p:sp>
      <p:sp>
        <p:nvSpPr>
          <p:cNvPr id="29" name="Rectangle 28"/>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0" y="6565392"/>
            <a:ext cx="548640" cy="182880"/>
          </a:xfrm>
          <a:prstGeom prst="rect">
            <a:avLst/>
          </a:prstGeom>
          <a:noFill/>
        </p:spPr>
        <p:txBody>
          <a:bodyPr wrap="none">
            <a:spAutoFit/>
          </a:bodyPr>
          <a:lstStyle/>
          <a:p>
            <a:pPr algn="r"/>
            <a:r>
              <a:rPr sz="900">
                <a:solidFill>
                  <a:srgbClr val="697380"/>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10515600" cy="731520"/>
          </a:xfrm>
          <a:prstGeom prst="rect">
            <a:avLst/>
          </a:prstGeom>
          <a:noFill/>
        </p:spPr>
        <p:txBody>
          <a:bodyPr wrap="none">
            <a:spAutoFit/>
          </a:bodyPr>
          <a:lstStyle/>
          <a:p>
            <a:pPr algn="ctr"/>
            <a:r>
              <a:rPr sz="3400" b="1">
                <a:solidFill>
                  <a:srgbClr val="FFFFFF"/>
                </a:solidFill>
              </a:rPr>
              <a:t>Conclusion</a:t>
            </a:r>
          </a:p>
        </p:txBody>
      </p:sp>
      <p:sp>
        <p:nvSpPr>
          <p:cNvPr id="4" name="TextBox 3"/>
          <p:cNvSpPr txBox="1"/>
          <p:nvPr/>
        </p:nvSpPr>
        <p:spPr>
          <a:xfrm>
            <a:off x="1188720" y="2011680"/>
            <a:ext cx="9784080" cy="2377440"/>
          </a:xfrm>
          <a:prstGeom prst="rect">
            <a:avLst/>
          </a:prstGeom>
          <a:noFill/>
        </p:spPr>
        <p:txBody>
          <a:bodyPr wrap="square">
            <a:spAutoFit/>
          </a:bodyPr>
          <a:lstStyle/>
          <a:p>
            <a:pPr algn="ctr"/>
            <a:r>
              <a:rPr sz="2300">
                <a:solidFill>
                  <a:srgbClr val="E2EFFC"/>
                </a:solidFill>
              </a:rPr>
              <a:t>The Lost &amp; Found Items Tracker provides a centralized digital workflow for reporting, discovering, matching and recovering campus belongings.</a:t>
            </a:r>
          </a:p>
          <a:p>
            <a:pPr algn="ctr"/>
            <a:r>
              <a:rPr sz="1800">
                <a:solidFill>
                  <a:srgbClr val="FFFFFF"/>
                </a:solidFill>
              </a:rPr>
              <a:t>It combines a web frontend, Node.js/Express backend and MongoDB database to create a scalable foundation for campus item recovery.</a:t>
            </a:r>
          </a:p>
        </p:txBody>
      </p:sp>
      <p:sp>
        <p:nvSpPr>
          <p:cNvPr id="5" name="TextBox 4"/>
          <p:cNvSpPr txBox="1"/>
          <p:nvPr/>
        </p:nvSpPr>
        <p:spPr>
          <a:xfrm>
            <a:off x="2011680" y="4892040"/>
            <a:ext cx="8138160" cy="731520"/>
          </a:xfrm>
          <a:prstGeom prst="rect">
            <a:avLst/>
          </a:prstGeom>
          <a:noFill/>
        </p:spPr>
        <p:txBody>
          <a:bodyPr wrap="none">
            <a:spAutoFit/>
          </a:bodyPr>
          <a:lstStyle/>
          <a:p>
            <a:pPr algn="ctr"/>
            <a:r>
              <a:rPr sz="1700" b="1">
                <a:solidFill>
                  <a:srgbClr val="FFFFFF"/>
                </a:solidFill>
              </a:rPr>
              <a:t>Kavi Krishna Sai • Prajwal • Hemanth Kumar</a:t>
            </a:r>
          </a:p>
        </p:txBody>
      </p:sp>
      <p:sp>
        <p:nvSpPr>
          <p:cNvPr id="6" name="Rectangle 5"/>
          <p:cNvSpPr/>
          <p:nvPr/>
        </p:nvSpPr>
        <p:spPr>
          <a:xfrm>
            <a:off x="594360" y="6537960"/>
            <a:ext cx="1097280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565392"/>
            <a:ext cx="548640" cy="182880"/>
          </a:xfrm>
          <a:prstGeom prst="rect">
            <a:avLst/>
          </a:prstGeom>
          <a:noFill/>
        </p:spPr>
        <p:txBody>
          <a:bodyPr wrap="none">
            <a:spAutoFit/>
          </a:bodyPr>
          <a:lstStyle/>
          <a:p>
            <a:pPr algn="r"/>
            <a:r>
              <a:rPr sz="900">
                <a:solidFill>
                  <a:srgbClr val="697380"/>
                </a:solidFil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